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6" r:id="rId10"/>
    <p:sldId id="267" r:id="rId11"/>
    <p:sldId id="268"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0E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4610"/>
  </p:normalViewPr>
  <p:slideViewPr>
    <p:cSldViewPr snapToGrid="0" snapToObjects="1">
      <p:cViewPr varScale="1">
        <p:scale>
          <a:sx n="111" d="100"/>
          <a:sy n="111" d="100"/>
        </p:scale>
        <p:origin x="48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Over-defense rate (%)</c:v>
                </c:pt>
              </c:strCache>
            </c:strRef>
          </c:tx>
          <c:spPr>
            <a:solidFill>
              <a:srgbClr val="2F80ED"/>
            </a:solidFill>
            <a:effectLst/>
          </c:spPr>
          <c:invertIfNegative val="0"/>
          <c:dLbls>
            <c:dLbl>
              <c:idx val="0"/>
              <c:layout>
                <c:manualLayout>
                  <c:x val="-4.6180844185831713E-3"/>
                  <c:y val="0.1209563994374121"/>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E44-4FFB-B2CD-D988FE6A4F77}"/>
                </c:ext>
              </c:extLst>
            </c:dLbl>
            <c:dLbl>
              <c:idx val="1"/>
              <c:layout>
                <c:manualLayout>
                  <c:x val="0"/>
                  <c:y val="-7.5195189208943816E-2"/>
                </c:manualLayout>
              </c:layout>
              <c:numFmt formatCode="0.00&quot;%&quot;" sourceLinked="0"/>
              <c:spPr>
                <a:noFill/>
                <a:ln>
                  <a:noFill/>
                </a:ln>
                <a:effectLst/>
              </c:spPr>
              <c:txPr>
                <a:bodyPr anchorCtr="0"/>
                <a:lstStyle/>
                <a:p>
                  <a:pPr algn="ctr">
                    <a:defRPr lang="en-US" sz="1600" b="0" i="0" u="none" strike="noStrike" kern="1200" baseline="0">
                      <a:solidFill>
                        <a:srgbClr val="000000"/>
                      </a:solidFill>
                      <a:latin typeface="Arial"/>
                      <a:ea typeface="+mn-ea"/>
                      <a:cs typeface="+mn-cs"/>
                    </a:defRPr>
                  </a:pPr>
                  <a:endParaRPr lang="vi-VN"/>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E44-4FFB-B2CD-D988FE6A4F77}"/>
                </c:ext>
              </c:extLst>
            </c:dLbl>
            <c:numFmt formatCode="0.00&quot;%&quot;" sourceLinked="0"/>
            <c:spPr>
              <a:noFill/>
              <a:ln>
                <a:noFill/>
              </a:ln>
              <a:effectLst/>
            </c:spPr>
            <c:txPr>
              <a:bodyPr/>
              <a:lstStyle/>
              <a:p>
                <a:pPr>
                  <a:defRPr sz="1600" b="0" i="0" u="none" strike="noStrike">
                    <a:solidFill>
                      <a:srgbClr val="000000"/>
                    </a:solidFill>
                    <a:latin typeface="Arial"/>
                  </a:defRPr>
                </a:pPr>
                <a:endParaRPr lang="vi-V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InjecGuard
(DeBERTa)</c:v>
                </c:pt>
                <c:pt idx="1">
                  <c:v>KHVGuard
(PhoBERT)</c:v>
                </c:pt>
              </c:strCache>
            </c:strRef>
          </c:cat>
          <c:val>
            <c:numRef>
              <c:f>Sheet1!$B$2:$B$3</c:f>
              <c:numCache>
                <c:formatCode>General</c:formatCode>
                <c:ptCount val="2"/>
                <c:pt idx="0">
                  <c:v>35.15</c:v>
                </c:pt>
                <c:pt idx="1">
                  <c:v>2.35</c:v>
                </c:pt>
              </c:numCache>
            </c:numRef>
          </c:val>
          <c:extLst>
            <c:ext xmlns:c16="http://schemas.microsoft.com/office/drawing/2014/chart" uri="{C3380CC4-5D6E-409C-BE32-E72D297353CC}">
              <c16:uniqueId val="{00000000-7E44-4FFB-B2CD-D988FE6A4F77}"/>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InjecGuard (DeBERTa)</c:v>
                </c:pt>
              </c:strCache>
            </c:strRef>
          </c:tx>
          <c:spPr>
            <a:solidFill>
              <a:srgbClr val="2F80ED"/>
            </a:solidFill>
            <a:effectLst/>
          </c:spPr>
          <c:invertIfNegative val="0"/>
          <c:dLbls>
            <c:numFmt formatCode="0.00&quot;%&quot;" sourceLinked="0"/>
            <c:spPr>
              <a:noFill/>
              <a:ln>
                <a:noFill/>
              </a:ln>
              <a:effectLst/>
            </c:spPr>
            <c:txPr>
              <a:bodyPr/>
              <a:lstStyle/>
              <a:p>
                <a:pPr>
                  <a:defRPr sz="1200" b="0" i="0" u="none" strike="noStrike">
                    <a:solidFill>
                      <a:srgbClr val="000000"/>
                    </a:solidFill>
                    <a:latin typeface="Arial"/>
                  </a:defRPr>
                </a:pPr>
                <a:endParaRPr lang="vi-V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Benign</c:v>
                </c:pt>
                <c:pt idx="1">
                  <c:v>Attack</c:v>
                </c:pt>
                <c:pt idx="2">
                  <c:v>Average</c:v>
                </c:pt>
              </c:strCache>
            </c:strRef>
          </c:cat>
          <c:val>
            <c:numRef>
              <c:f>Sheet1!$B$2:$B$4</c:f>
              <c:numCache>
                <c:formatCode>General</c:formatCode>
                <c:ptCount val="3"/>
                <c:pt idx="0">
                  <c:v>73.989999999999995</c:v>
                </c:pt>
                <c:pt idx="1">
                  <c:v>99.21</c:v>
                </c:pt>
                <c:pt idx="2">
                  <c:v>84.68</c:v>
                </c:pt>
              </c:numCache>
            </c:numRef>
          </c:val>
          <c:extLst>
            <c:ext xmlns:c16="http://schemas.microsoft.com/office/drawing/2014/chart" uri="{C3380CC4-5D6E-409C-BE32-E72D297353CC}">
              <c16:uniqueId val="{00000000-5353-41D9-B19C-27686BE23E22}"/>
            </c:ext>
          </c:extLst>
        </c:ser>
        <c:ser>
          <c:idx val="1"/>
          <c:order val="1"/>
          <c:tx>
            <c:strRef>
              <c:f>Sheet1!$C$1</c:f>
              <c:strCache>
                <c:ptCount val="1"/>
                <c:pt idx="0">
                  <c:v>KHVGuard (PhoBERT)</c:v>
                </c:pt>
              </c:strCache>
            </c:strRef>
          </c:tx>
          <c:spPr>
            <a:solidFill>
              <a:srgbClr val="F2994A"/>
            </a:solidFill>
            <a:effectLst/>
          </c:spPr>
          <c:invertIfNegative val="0"/>
          <c:dLbls>
            <c:numFmt formatCode="0.00&quot;%&quot;" sourceLinked="0"/>
            <c:spPr>
              <a:noFill/>
              <a:ln>
                <a:noFill/>
              </a:ln>
              <a:effectLst/>
            </c:spPr>
            <c:txPr>
              <a:bodyPr/>
              <a:lstStyle/>
              <a:p>
                <a:pPr>
                  <a:defRPr sz="1200" b="0" i="0" u="none" strike="noStrike">
                    <a:solidFill>
                      <a:srgbClr val="000000"/>
                    </a:solidFill>
                    <a:latin typeface="Arial"/>
                  </a:defRPr>
                </a:pPr>
                <a:endParaRPr lang="vi-V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Benign</c:v>
                </c:pt>
                <c:pt idx="1">
                  <c:v>Attack</c:v>
                </c:pt>
                <c:pt idx="2">
                  <c:v>Average</c:v>
                </c:pt>
              </c:strCache>
            </c:strRef>
          </c:cat>
          <c:val>
            <c:numRef>
              <c:f>Sheet1!$C$2:$C$4</c:f>
              <c:numCache>
                <c:formatCode>General</c:formatCode>
                <c:ptCount val="3"/>
                <c:pt idx="0">
                  <c:v>97.11</c:v>
                </c:pt>
                <c:pt idx="1">
                  <c:v>96.06</c:v>
                </c:pt>
                <c:pt idx="2">
                  <c:v>96.67</c:v>
                </c:pt>
              </c:numCache>
            </c:numRef>
          </c:val>
          <c:extLst>
            <c:ext xmlns:c16="http://schemas.microsoft.com/office/drawing/2014/chart" uri="{C3380CC4-5D6E-409C-BE32-E72D297353CC}">
              <c16:uniqueId val="{00000001-5353-41D9-B19C-27686BE23E22}"/>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83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OWASP Top 10 for LLM Applications (LLM01 Prompt Injection): https://owasp.org/www-project-top-10-for-large-language-model-applications/  
- User-provided manuscript: conference_latex_template.pdf (intro + case study)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(Over-defense definition + Vietnamese examples)
- InjecGuard / PIGuard paper (over-defense &amp; trigger-word bias framing): https://arxiv.org/abs/2410.22770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(tokenization limitation + examples)
- PhoBERT paper (monolingual Vietnamese LM): https://aclanthology.org/2020.findings-emnlp.92/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(PhoBERT backbone + context-aware tokenization + evaluation)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(V-NotInject stats + trigger words + collection)
- DayNhauHoc forum (data source referenced in paper): https://daynhauhoc.com/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(Table I: over-defense 35.15% → 2.35%)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(Table I: accuracies)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(case study section)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(discussion + conclusion)
- OWASP Prompt Injection risk context: https://genai.owasp.org/llmrisk/llm01-prompt-injection/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manuscript: conference_latex_template.pdf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 y="0"/>
            <a:ext cx="12191695" cy="6858000"/>
          </a:xfrm>
          <a:prstGeom prst="rect">
            <a:avLst/>
          </a:prstGeom>
          <a:solidFill>
            <a:schemeClr val="bg1"/>
          </a:solidFill>
          <a:ln w="12700">
            <a:solidFill>
              <a:srgbClr val="0B1F3A"/>
            </a:solidFill>
            <a:prstDash val="solid"/>
          </a:ln>
        </p:spPr>
        <p:txBody>
          <a:bodyPr/>
          <a:lstStyle/>
          <a:p>
            <a:endParaRPr lang="vi-VN"/>
          </a:p>
        </p:txBody>
      </p:sp>
      <p:sp>
        <p:nvSpPr>
          <p:cNvPr id="5" name="Text 3"/>
          <p:cNvSpPr/>
          <p:nvPr/>
        </p:nvSpPr>
        <p:spPr>
          <a:xfrm>
            <a:off x="841248" y="1609683"/>
            <a:ext cx="10607040" cy="822960"/>
          </a:xfrm>
          <a:prstGeom prst="rect">
            <a:avLst/>
          </a:prstGeom>
          <a:noFill/>
          <a:ln/>
        </p:spPr>
        <p:txBody>
          <a:bodyPr wrap="square" rtlCol="0" anchor="ctr"/>
          <a:lstStyle/>
          <a:p>
            <a:pPr marL="0" indent="0">
              <a:buNone/>
            </a:pPr>
            <a:r>
              <a:rPr lang="en-US" sz="5400" b="1" dirty="0">
                <a:latin typeface="Calibri" pitchFamily="34" charset="0"/>
                <a:ea typeface="Calibri" pitchFamily="34" charset="-122"/>
                <a:cs typeface="Calibri" pitchFamily="34" charset="-120"/>
              </a:rPr>
              <a:t>KHVGuard</a:t>
            </a:r>
            <a:endParaRPr lang="en-US" sz="5400" dirty="0"/>
          </a:p>
        </p:txBody>
      </p:sp>
      <p:sp>
        <p:nvSpPr>
          <p:cNvPr id="6" name="Text 4"/>
          <p:cNvSpPr/>
          <p:nvPr/>
        </p:nvSpPr>
        <p:spPr>
          <a:xfrm>
            <a:off x="841247" y="2788920"/>
            <a:ext cx="10607041" cy="2057400"/>
          </a:xfrm>
          <a:prstGeom prst="rect">
            <a:avLst/>
          </a:prstGeom>
          <a:noFill/>
          <a:ln/>
        </p:spPr>
        <p:txBody>
          <a:bodyPr wrap="square" rtlCol="0" anchor="ctr"/>
          <a:lstStyle/>
          <a:p>
            <a:pPr>
              <a:lnSpc>
                <a:spcPct val="115000"/>
              </a:lnSpc>
            </a:pPr>
            <a:r>
              <a:rPr lang="vi-VN" sz="3200" dirty="0">
                <a:latin typeface="Calibri" pitchFamily="34" charset="0"/>
                <a:ea typeface="Calibri" pitchFamily="34" charset="-122"/>
                <a:cs typeface="Calibri" pitchFamily="34" charset="-120"/>
              </a:rPr>
              <a:t>Tăng cường khả năng chống bảo vệ quá mức với đối câu lệnh cài cắm cho ngôn ngữ Tiếng Việt thông qua kiến trúc PhoBERT và bộ dữ liệu câu lệnh Tiếng Việt </a:t>
            </a:r>
          </a:p>
          <a:p>
            <a:pPr>
              <a:lnSpc>
                <a:spcPct val="115000"/>
              </a:lnSpc>
            </a:pPr>
            <a:br>
              <a:rPr lang="vi-VN" sz="3200" dirty="0"/>
            </a:br>
            <a:endParaRPr lang="en-US" sz="3200" dirty="0"/>
          </a:p>
        </p:txBody>
      </p:sp>
      <p:sp>
        <p:nvSpPr>
          <p:cNvPr id="7" name="Text 5"/>
          <p:cNvSpPr/>
          <p:nvPr/>
        </p:nvSpPr>
        <p:spPr>
          <a:xfrm>
            <a:off x="2524192" y="2696809"/>
            <a:ext cx="10607040" cy="1621766"/>
          </a:xfrm>
          <a:prstGeom prst="rect">
            <a:avLst/>
          </a:prstGeom>
          <a:noFill/>
          <a:ln/>
        </p:spPr>
        <p:txBody>
          <a:bodyPr wrap="square" rtlCol="0" anchor="ctr"/>
          <a:lstStyle/>
          <a:p>
            <a:pPr marL="0" indent="0">
              <a:buNone/>
            </a:pPr>
            <a:r>
              <a:rPr lang="en-US" sz="2000" b="1" dirty="0">
                <a:latin typeface="Calibri" pitchFamily="34" charset="0"/>
                <a:ea typeface="Calibri" pitchFamily="34" charset="-122"/>
                <a:cs typeface="Calibri" pitchFamily="34" charset="-120"/>
              </a:rPr>
              <a:t> </a:t>
            </a:r>
          </a:p>
          <a:p>
            <a:pPr marL="0" indent="0">
              <a:buNone/>
            </a:pPr>
            <a:endParaRPr lang="en-US" sz="1600" b="1" dirty="0"/>
          </a:p>
        </p:txBody>
      </p:sp>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41248" y="426149"/>
            <a:ext cx="2338971" cy="702181"/>
          </a:xfrm>
          <a:prstGeom prst="rect">
            <a:avLst/>
          </a:prstGeom>
        </p:spPr>
      </p:pic>
      <p:graphicFrame>
        <p:nvGraphicFramePr>
          <p:cNvPr id="9" name="Table 8">
            <a:extLst>
              <a:ext uri="{FF2B5EF4-FFF2-40B4-BE49-F238E27FC236}">
                <a16:creationId xmlns:a16="http://schemas.microsoft.com/office/drawing/2014/main" id="{9467913E-F6FF-69F1-C1A6-EF10ADE57F58}"/>
              </a:ext>
            </a:extLst>
          </p:cNvPr>
          <p:cNvGraphicFramePr>
            <a:graphicFrameLocks noGrp="1"/>
          </p:cNvGraphicFramePr>
          <p:nvPr>
            <p:extLst>
              <p:ext uri="{D42A27DB-BD31-4B8C-83A1-F6EECF244321}">
                <p14:modId xmlns:p14="http://schemas.microsoft.com/office/powerpoint/2010/main" val="4278416200"/>
              </p:ext>
            </p:extLst>
          </p:nvPr>
        </p:nvGraphicFramePr>
        <p:xfrm>
          <a:off x="841248" y="4663434"/>
          <a:ext cx="6281412" cy="1107440"/>
        </p:xfrm>
        <a:graphic>
          <a:graphicData uri="http://schemas.openxmlformats.org/drawingml/2006/table">
            <a:tbl>
              <a:tblPr firstRow="1" bandRow="1">
                <a:tableStyleId>{5C22544A-7EE6-4342-B048-85BDC9FD1C3A}</a:tableStyleId>
              </a:tblPr>
              <a:tblGrid>
                <a:gridCol w="2080348">
                  <a:extLst>
                    <a:ext uri="{9D8B030D-6E8A-4147-A177-3AD203B41FA5}">
                      <a16:colId xmlns:a16="http://schemas.microsoft.com/office/drawing/2014/main" val="3185185867"/>
                    </a:ext>
                  </a:extLst>
                </a:gridCol>
                <a:gridCol w="4201064">
                  <a:extLst>
                    <a:ext uri="{9D8B030D-6E8A-4147-A177-3AD203B41FA5}">
                      <a16:colId xmlns:a16="http://schemas.microsoft.com/office/drawing/2014/main" val="4246803976"/>
                    </a:ext>
                  </a:extLst>
                </a:gridCol>
              </a:tblGrid>
              <a:tr h="0">
                <a:tc>
                  <a:txBody>
                    <a:bodyPr/>
                    <a:lstStyle/>
                    <a:p>
                      <a:r>
                        <a:rPr lang="en-US" sz="1800" b="1" dirty="0">
                          <a:solidFill>
                            <a:schemeClr val="tx1"/>
                          </a:solidFill>
                          <a:latin typeface="Calibri" pitchFamily="34" charset="0"/>
                          <a:ea typeface="Calibri" pitchFamily="34" charset="-122"/>
                          <a:cs typeface="Calibri" pitchFamily="34" charset="-120"/>
                        </a:rPr>
                        <a:t>Vũ Thành Huy </a:t>
                      </a:r>
                      <a:endParaRPr lang="vi-VN" dirty="0">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Calibri" pitchFamily="34" charset="0"/>
                          <a:ea typeface="Calibri" pitchFamily="34" charset="-122"/>
                          <a:cs typeface="Calibri" pitchFamily="34" charset="-120"/>
                        </a:rPr>
                        <a:t>: 20252033M</a:t>
                      </a:r>
                    </a:p>
                  </a:txBody>
                  <a:tcPr>
                    <a:solidFill>
                      <a:schemeClr val="bg1"/>
                    </a:solidFill>
                  </a:tcPr>
                </a:tc>
                <a:extLst>
                  <a:ext uri="{0D108BD9-81ED-4DB2-BD59-A6C34878D82A}">
                    <a16:rowId xmlns:a16="http://schemas.microsoft.com/office/drawing/2014/main" val="1786666190"/>
                  </a:ext>
                </a:extLst>
              </a:tr>
              <a:tr h="370840">
                <a:tc>
                  <a:txBody>
                    <a:bodyPr/>
                    <a:lstStyle/>
                    <a:p>
                      <a:pPr marL="0" algn="l" defTabSz="914400" rtl="0" eaLnBrk="1" latinLnBrk="0" hangingPunct="1"/>
                      <a:r>
                        <a:rPr lang="en-US" sz="1800" b="1" kern="1200" dirty="0" err="1">
                          <a:solidFill>
                            <a:schemeClr val="tx1"/>
                          </a:solidFill>
                          <a:latin typeface="Calibri" pitchFamily="34" charset="0"/>
                          <a:ea typeface="Calibri" pitchFamily="34" charset="-122"/>
                          <a:cs typeface="Calibri" pitchFamily="34" charset="-120"/>
                        </a:rPr>
                        <a:t>Trần</a:t>
                      </a:r>
                      <a:r>
                        <a:rPr lang="en-US" sz="1800" b="1" kern="1200" dirty="0">
                          <a:solidFill>
                            <a:schemeClr val="tx1"/>
                          </a:solidFill>
                          <a:latin typeface="Calibri" pitchFamily="34" charset="0"/>
                          <a:ea typeface="Calibri" pitchFamily="34" charset="-122"/>
                          <a:cs typeface="Calibri" pitchFamily="34" charset="-120"/>
                        </a:rPr>
                        <a:t> Minh Vương </a:t>
                      </a:r>
                      <a:endParaRPr lang="vi-VN" sz="1800" b="1" kern="1200" dirty="0">
                        <a:solidFill>
                          <a:schemeClr val="tx1"/>
                        </a:solidFill>
                        <a:latin typeface="Calibri" pitchFamily="34" charset="0"/>
                        <a:ea typeface="Calibri" pitchFamily="34" charset="-122"/>
                        <a:cs typeface="Calibri" pitchFamily="34" charset="-120"/>
                      </a:endParaRPr>
                    </a:p>
                  </a:txBody>
                  <a:tcPr>
                    <a:solidFill>
                      <a:schemeClr val="bg1"/>
                    </a:solidFill>
                  </a:tcPr>
                </a:tc>
                <a:tc>
                  <a:txBody>
                    <a:bodyPr/>
                    <a:lstStyle/>
                    <a:p>
                      <a:pPr marL="0" algn="l" defTabSz="914400" rtl="0" eaLnBrk="1" latinLnBrk="0" hangingPunct="1"/>
                      <a:r>
                        <a:rPr lang="en-US" sz="1800" b="1" kern="1200" dirty="0">
                          <a:solidFill>
                            <a:schemeClr val="tx1"/>
                          </a:solidFill>
                          <a:latin typeface="Calibri" pitchFamily="34" charset="0"/>
                          <a:ea typeface="Calibri" pitchFamily="34" charset="-122"/>
                          <a:cs typeface="Calibri" pitchFamily="34" charset="-120"/>
                        </a:rPr>
                        <a:t>: 20252023M</a:t>
                      </a:r>
                      <a:endParaRPr lang="vi-VN" sz="1800" b="1" kern="1200" dirty="0">
                        <a:solidFill>
                          <a:schemeClr val="tx1"/>
                        </a:solidFill>
                        <a:latin typeface="Calibri" pitchFamily="34" charset="0"/>
                        <a:ea typeface="Calibri" pitchFamily="34" charset="-122"/>
                        <a:cs typeface="Calibri" pitchFamily="34" charset="-120"/>
                      </a:endParaRPr>
                    </a:p>
                  </a:txBody>
                  <a:tcPr>
                    <a:solidFill>
                      <a:schemeClr val="bg1"/>
                    </a:solidFill>
                  </a:tcPr>
                </a:tc>
                <a:extLst>
                  <a:ext uri="{0D108BD9-81ED-4DB2-BD59-A6C34878D82A}">
                    <a16:rowId xmlns:a16="http://schemas.microsoft.com/office/drawing/2014/main" val="3085504709"/>
                  </a:ext>
                </a:extLst>
              </a:tr>
              <a:tr h="370840">
                <a:tc>
                  <a:txBody>
                    <a:bodyPr/>
                    <a:lstStyle/>
                    <a:p>
                      <a:r>
                        <a:rPr lang="en-US" sz="1800" b="1" dirty="0">
                          <a:solidFill>
                            <a:schemeClr val="tx1"/>
                          </a:solidFill>
                          <a:latin typeface="Calibri" pitchFamily="34" charset="0"/>
                          <a:ea typeface="Calibri" pitchFamily="34" charset="-122"/>
                          <a:cs typeface="Calibri" pitchFamily="34" charset="-120"/>
                        </a:rPr>
                        <a:t>Nguyễn Hoà Khiêm </a:t>
                      </a:r>
                      <a:endParaRPr lang="vi-VN" dirty="0">
                        <a:solidFill>
                          <a:schemeClr val="tx1"/>
                        </a:solidFill>
                      </a:endParaRPr>
                    </a:p>
                  </a:txBody>
                  <a:tcPr>
                    <a:solidFill>
                      <a:schemeClr val="bg1"/>
                    </a:solidFill>
                  </a:tcPr>
                </a:tc>
                <a:tc>
                  <a:txBody>
                    <a:bodyPr/>
                    <a:lstStyle/>
                    <a:p>
                      <a:r>
                        <a:rPr lang="en-US" sz="1800" b="1" dirty="0">
                          <a:solidFill>
                            <a:schemeClr val="tx1"/>
                          </a:solidFill>
                          <a:latin typeface="Calibri" pitchFamily="34" charset="0"/>
                          <a:ea typeface="Calibri" pitchFamily="34" charset="-122"/>
                          <a:cs typeface="Calibri" pitchFamily="34" charset="-120"/>
                        </a:rPr>
                        <a:t>: 20252031M</a:t>
                      </a:r>
                      <a:endParaRPr lang="vi-VN" dirty="0">
                        <a:solidFill>
                          <a:schemeClr val="tx1"/>
                        </a:solidFill>
                      </a:endParaRPr>
                    </a:p>
                  </a:txBody>
                  <a:tcPr>
                    <a:solidFill>
                      <a:schemeClr val="bg1"/>
                    </a:solidFill>
                  </a:tcPr>
                </a:tc>
                <a:extLst>
                  <a:ext uri="{0D108BD9-81ED-4DB2-BD59-A6C34878D82A}">
                    <a16:rowId xmlns:a16="http://schemas.microsoft.com/office/drawing/2014/main" val="308919052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dirty="0">
              <a:solidFill>
                <a:srgbClr val="FF0000"/>
              </a:solidFill>
              <a:highlight>
                <a:srgbClr val="FF0000"/>
              </a:highlight>
            </a:endParaRPr>
          </a:p>
        </p:txBody>
      </p:sp>
      <p:sp>
        <p:nvSpPr>
          <p:cNvPr id="3" name="Text 1"/>
          <p:cNvSpPr/>
          <p:nvPr/>
        </p:nvSpPr>
        <p:spPr>
          <a:xfrm>
            <a:off x="594360" y="128016"/>
            <a:ext cx="9541678"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Vấn </a:t>
            </a:r>
            <a:r>
              <a:rPr lang="en-US" sz="3200" b="1" dirty="0" err="1">
                <a:solidFill>
                  <a:srgbClr val="FFFFFF"/>
                </a:solidFill>
                <a:latin typeface="Calibri" pitchFamily="34" charset="0"/>
                <a:ea typeface="Calibri" pitchFamily="34" charset="-122"/>
                <a:cs typeface="Calibri" pitchFamily="34" charset="-120"/>
              </a:rPr>
              <a:t>đề</a:t>
            </a:r>
            <a:r>
              <a:rPr lang="en-US" sz="3200" b="1" dirty="0">
                <a:solidFill>
                  <a:srgbClr val="FFFFFF"/>
                </a:solidFill>
                <a:latin typeface="Calibri" pitchFamily="34" charset="0"/>
                <a:ea typeface="Calibri" pitchFamily="34" charset="-122"/>
                <a:cs typeface="Calibri" pitchFamily="34" charset="-120"/>
              </a:rPr>
              <a:t>: </a:t>
            </a:r>
            <a:r>
              <a:rPr lang="vi-VN" sz="3200" b="1" dirty="0">
                <a:solidFill>
                  <a:srgbClr val="FFFFFF"/>
                </a:solidFill>
                <a:latin typeface="Calibri" pitchFamily="34" charset="0"/>
                <a:ea typeface="Calibri" pitchFamily="34" charset="-122"/>
                <a:cs typeface="Calibri" pitchFamily="34" charset="-120"/>
              </a:rPr>
              <a:t>Các mô hình rào chắn bị phòng thủ quá mức</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Bối cảnh</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868680"/>
            <a:ext cx="2011680" cy="384048"/>
          </a:xfrm>
          <a:prstGeom prst="roundRect">
            <a:avLst/>
          </a:prstGeom>
          <a:solidFill>
            <a:srgbClr val="2F80ED"/>
          </a:solidFill>
          <a:ln w="12700">
            <a:solidFill>
              <a:srgbClr val="2F80ED"/>
            </a:solidFill>
            <a:prstDash val="solid"/>
          </a:ln>
        </p:spPr>
        <p:txBody>
          <a:bodyPr/>
          <a:lstStyle/>
          <a:p>
            <a:endParaRPr lang="vi-VN" dirty="0"/>
          </a:p>
        </p:txBody>
      </p:sp>
      <p:sp>
        <p:nvSpPr>
          <p:cNvPr id="7" name="Text 5"/>
          <p:cNvSpPr/>
          <p:nvPr/>
        </p:nvSpPr>
        <p:spPr>
          <a:xfrm>
            <a:off x="594360" y="914400"/>
            <a:ext cx="201168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Bối cảnh</a:t>
            </a:r>
            <a:endParaRPr lang="en-US" sz="2400" dirty="0"/>
          </a:p>
        </p:txBody>
      </p:sp>
      <p:sp>
        <p:nvSpPr>
          <p:cNvPr id="10" name="Text 8"/>
          <p:cNvSpPr/>
          <p:nvPr/>
        </p:nvSpPr>
        <p:spPr>
          <a:xfrm>
            <a:off x="822960" y="1536192"/>
            <a:ext cx="5349240" cy="320040"/>
          </a:xfrm>
          <a:prstGeom prst="rect">
            <a:avLst/>
          </a:prstGeom>
          <a:noFill/>
          <a:ln/>
        </p:spPr>
        <p:txBody>
          <a:bodyPr wrap="square" rtlCol="0" anchor="ctr"/>
          <a:lstStyle/>
          <a:p>
            <a:r>
              <a:rPr lang="vi-VN" b="1" dirty="0">
                <a:solidFill>
                  <a:srgbClr val="111827"/>
                </a:solidFill>
                <a:latin typeface="Calibri" pitchFamily="34" charset="0"/>
                <a:ea typeface="Calibri" pitchFamily="34" charset="-122"/>
                <a:cs typeface="Calibri" pitchFamily="34" charset="-120"/>
              </a:rPr>
              <a:t>Tác hại của các câu lệnh cài cắm (Prompt Injection)</a:t>
            </a:r>
            <a:endParaRPr lang="en-US" b="1" dirty="0">
              <a:solidFill>
                <a:srgbClr val="111827"/>
              </a:solidFill>
              <a:latin typeface="Calibri" pitchFamily="34" charset="0"/>
              <a:ea typeface="Calibri" pitchFamily="34" charset="-122"/>
              <a:cs typeface="Calibri" pitchFamily="34" charset="-120"/>
            </a:endParaRPr>
          </a:p>
        </p:txBody>
      </p:sp>
      <p:sp>
        <p:nvSpPr>
          <p:cNvPr id="11" name="Text 9"/>
          <p:cNvSpPr/>
          <p:nvPr/>
        </p:nvSpPr>
        <p:spPr>
          <a:xfrm>
            <a:off x="850392" y="1938528"/>
            <a:ext cx="5212080" cy="1645920"/>
          </a:xfrm>
          <a:prstGeom prst="rect">
            <a:avLst/>
          </a:prstGeom>
          <a:noFill/>
          <a:ln/>
        </p:spPr>
        <p:txBody>
          <a:bodyPr wrap="square" rtlCol="0" anchor="t"/>
          <a:lstStyle/>
          <a:p>
            <a:pPr marL="228600" indent="-228600">
              <a:lnSpc>
                <a:spcPct val="110000"/>
              </a:lnSpc>
              <a:buSzPct val="100000"/>
              <a:buChar char="•"/>
            </a:pPr>
            <a:r>
              <a:rPr lang="vi-VN" sz="1600" dirty="0"/>
              <a:t>Rò gỉ dữ liệu và thông tin nhạy cảm</a:t>
            </a:r>
            <a:endParaRPr lang="en-US" sz="1600" dirty="0"/>
          </a:p>
          <a:p>
            <a:pPr marL="228600" indent="-228600">
              <a:lnSpc>
                <a:spcPct val="110000"/>
              </a:lnSpc>
              <a:buSzPct val="100000"/>
              <a:buChar char="•"/>
            </a:pPr>
            <a:r>
              <a:rPr lang="vi-VN" sz="1600" dirty="0"/>
              <a:t>Phá vỡ logic nghiệp vụ</a:t>
            </a:r>
          </a:p>
          <a:p>
            <a:pPr marL="228600" indent="-228600">
              <a:lnSpc>
                <a:spcPct val="110000"/>
              </a:lnSpc>
              <a:buSzPct val="100000"/>
              <a:buChar char="•"/>
            </a:pPr>
            <a:r>
              <a:rPr lang="vi-VN" sz="1600" dirty="0"/>
              <a:t>Thực hiện các hành vi nguy hiểm</a:t>
            </a:r>
            <a:endParaRPr lang="en-US" sz="1600" dirty="0"/>
          </a:p>
        </p:txBody>
      </p:sp>
      <p:sp>
        <p:nvSpPr>
          <p:cNvPr id="14" name="Text 12"/>
          <p:cNvSpPr/>
          <p:nvPr/>
        </p:nvSpPr>
        <p:spPr>
          <a:xfrm>
            <a:off x="6748272" y="1547061"/>
            <a:ext cx="4736592" cy="320040"/>
          </a:xfrm>
          <a:prstGeom prst="rect">
            <a:avLst/>
          </a:prstGeom>
          <a:noFill/>
          <a:ln/>
        </p:spPr>
        <p:txBody>
          <a:bodyPr wrap="square" rtlCol="0" anchor="ctr"/>
          <a:lstStyle/>
          <a:p>
            <a:pPr indent="0">
              <a:buNone/>
            </a:pPr>
            <a:r>
              <a:rPr lang="vi-VN" b="1" dirty="0">
                <a:solidFill>
                  <a:srgbClr val="111827"/>
                </a:solidFill>
                <a:latin typeface="Calibri" pitchFamily="34" charset="0"/>
                <a:ea typeface="Calibri" pitchFamily="34" charset="-122"/>
                <a:cs typeface="Calibri" pitchFamily="34" charset="-120"/>
              </a:rPr>
              <a:t>Triển khai các mô hình rào chắn</a:t>
            </a:r>
            <a:endParaRPr lang="en-US" b="1" dirty="0">
              <a:solidFill>
                <a:srgbClr val="111827"/>
              </a:solidFill>
              <a:latin typeface="Calibri" pitchFamily="34" charset="0"/>
              <a:ea typeface="Calibri" pitchFamily="34" charset="-122"/>
              <a:cs typeface="Calibri" pitchFamily="34" charset="-120"/>
            </a:endParaRPr>
          </a:p>
        </p:txBody>
      </p:sp>
      <p:sp>
        <p:nvSpPr>
          <p:cNvPr id="15" name="Text 13"/>
          <p:cNvSpPr/>
          <p:nvPr/>
        </p:nvSpPr>
        <p:spPr>
          <a:xfrm>
            <a:off x="6742176" y="1856232"/>
            <a:ext cx="4599432" cy="1645920"/>
          </a:xfrm>
          <a:prstGeom prst="rect">
            <a:avLst/>
          </a:prstGeom>
          <a:noFill/>
          <a:ln/>
        </p:spPr>
        <p:txBody>
          <a:bodyPr wrap="square" rtlCol="0" anchor="t"/>
          <a:lstStyle/>
          <a:p>
            <a:pPr marL="228600" indent="-228600">
              <a:lnSpc>
                <a:spcPct val="110000"/>
              </a:lnSpc>
              <a:buSzPct val="100000"/>
              <a:buChar char="•"/>
            </a:pPr>
            <a:r>
              <a:rPr lang="en-US" sz="1600" dirty="0">
                <a:solidFill>
                  <a:srgbClr val="374151"/>
                </a:solidFill>
                <a:latin typeface="Calibri" pitchFamily="34" charset="0"/>
                <a:ea typeface="Calibri" pitchFamily="34" charset="-122"/>
                <a:cs typeface="Calibri" pitchFamily="34" charset="-120"/>
              </a:rPr>
              <a:t>Trigger word: thấy từ nhạy cảm là chặn</a:t>
            </a:r>
            <a:endParaRPr lang="en-US" sz="1600" dirty="0"/>
          </a:p>
          <a:p>
            <a:pPr marL="228600" indent="-228600">
              <a:lnSpc>
                <a:spcPct val="110000"/>
              </a:lnSpc>
              <a:buSzPct val="100000"/>
              <a:buChar char="•"/>
            </a:pPr>
            <a:r>
              <a:rPr lang="en-US" sz="1600" dirty="0">
                <a:solidFill>
                  <a:srgbClr val="374151"/>
                </a:solidFill>
                <a:latin typeface="Calibri" pitchFamily="34" charset="0"/>
                <a:ea typeface="Calibri" pitchFamily="34" charset="-122"/>
                <a:cs typeface="Calibri" pitchFamily="34" charset="-120"/>
              </a:rPr>
              <a:t>Tiếng Việt đa âm tiết + từ ghép + đa nghĩa → dễ hiểu sai ngữ cảnh</a:t>
            </a:r>
            <a:endParaRPr lang="en-US" sz="1600" dirty="0"/>
          </a:p>
          <a:p>
            <a:pPr marL="228600" indent="-228600">
              <a:lnSpc>
                <a:spcPct val="110000"/>
              </a:lnSpc>
              <a:buSzPct val="100000"/>
              <a:buChar char="•"/>
            </a:pPr>
            <a:r>
              <a:rPr lang="en-US" sz="1600" dirty="0">
                <a:solidFill>
                  <a:srgbClr val="374151"/>
                </a:solidFill>
                <a:latin typeface="Calibri" pitchFamily="34" charset="0"/>
                <a:ea typeface="Calibri" pitchFamily="34" charset="-122"/>
                <a:cs typeface="Calibri" pitchFamily="34" charset="-120"/>
              </a:rPr>
              <a:t>Hệ quả: giảm UX, tăng chi phí support, làm người dùng tìm cách lách</a:t>
            </a:r>
            <a:endParaRPr lang="en-US" sz="1600" dirty="0"/>
          </a:p>
        </p:txBody>
      </p:sp>
      <p:pic>
        <p:nvPicPr>
          <p:cNvPr id="1030" name="Picture 6">
            <a:extLst>
              <a:ext uri="{FF2B5EF4-FFF2-40B4-BE49-F238E27FC236}">
                <a16:creationId xmlns:a16="http://schemas.microsoft.com/office/drawing/2014/main" id="{AB4D1877-DCA6-C12D-DB54-1F4FB3C75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69" y="3379580"/>
            <a:ext cx="5025606" cy="33504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8929202" cy="411480"/>
          </a:xfrm>
          <a:prstGeom prst="rect">
            <a:avLst/>
          </a:prstGeom>
          <a:noFill/>
          <a:ln/>
        </p:spPr>
        <p:txBody>
          <a:bodyPr wrap="square" rtlCol="0" anchor="ctr"/>
          <a:lstStyle/>
          <a:p>
            <a:pPr marL="0" indent="0">
              <a:buNone/>
            </a:pPr>
            <a:r>
              <a:rPr lang="vi-VN" sz="3200" b="1">
                <a:solidFill>
                  <a:srgbClr val="FFFFFF"/>
                </a:solidFill>
                <a:latin typeface="Calibri" pitchFamily="34" charset="0"/>
                <a:ea typeface="Calibri" pitchFamily="34" charset="-122"/>
                <a:cs typeface="Calibri" pitchFamily="34" charset="-120"/>
              </a:rPr>
              <a:t>Phòng thủ quá mức</a:t>
            </a:r>
            <a:r>
              <a:rPr lang="en-US" sz="3200" b="1" dirty="0">
                <a:solidFill>
                  <a:srgbClr val="FFFFFF"/>
                </a:solidFill>
                <a:latin typeface="Calibri" pitchFamily="34" charset="0"/>
                <a:ea typeface="Calibri" pitchFamily="34" charset="-122"/>
                <a:cs typeface="Calibri" pitchFamily="34" charset="-120"/>
              </a:rPr>
              <a:t> là gì (và vì sao nó nguy </a:t>
            </a:r>
            <a:r>
              <a:rPr lang="en-US" sz="3200" b="1" dirty="0" err="1">
                <a:solidFill>
                  <a:srgbClr val="FFFFFF"/>
                </a:solidFill>
                <a:latin typeface="Calibri" pitchFamily="34" charset="0"/>
                <a:ea typeface="Calibri" pitchFamily="34" charset="-122"/>
                <a:cs typeface="Calibri" pitchFamily="34" charset="-120"/>
              </a:rPr>
              <a:t>hiểm</a:t>
            </a:r>
            <a:r>
              <a:rPr lang="en-US" sz="3200" b="1" dirty="0">
                <a:solidFill>
                  <a:srgbClr val="FFFFFF"/>
                </a:solidFill>
                <a:latin typeface="Calibri" pitchFamily="34" charset="0"/>
                <a:ea typeface="Calibri" pitchFamily="34" charset="-122"/>
                <a:cs typeface="Calibri" pitchFamily="34" charset="-120"/>
              </a:rPr>
              <a:t>) ?</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Khái niệm</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1051560"/>
            <a:ext cx="370332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sz="1600"/>
          </a:p>
        </p:txBody>
      </p:sp>
      <p:sp>
        <p:nvSpPr>
          <p:cNvPr id="7" name="Text 5"/>
          <p:cNvSpPr/>
          <p:nvPr/>
        </p:nvSpPr>
        <p:spPr>
          <a:xfrm>
            <a:off x="822960" y="1216152"/>
            <a:ext cx="3246120" cy="274320"/>
          </a:xfrm>
          <a:prstGeom prst="rect">
            <a:avLst/>
          </a:prstGeom>
          <a:noFill/>
          <a:ln/>
        </p:spPr>
        <p:txBody>
          <a:bodyPr wrap="square" rtlCol="0" anchor="ctr"/>
          <a:lstStyle/>
          <a:p>
            <a:pPr marL="0" indent="0">
              <a:buNone/>
            </a:pPr>
            <a:r>
              <a:rPr lang="en-US" sz="1600" b="1" dirty="0">
                <a:solidFill>
                  <a:srgbClr val="6B7280"/>
                </a:solidFill>
                <a:latin typeface="Calibri" pitchFamily="34" charset="0"/>
                <a:ea typeface="Calibri" pitchFamily="34" charset="-122"/>
                <a:cs typeface="Calibri" pitchFamily="34" charset="-120"/>
              </a:rPr>
              <a:t>Vấn đề cốt lõi</a:t>
            </a:r>
            <a:endParaRPr lang="en-US" sz="1600" dirty="0"/>
          </a:p>
        </p:txBody>
      </p:sp>
      <p:sp>
        <p:nvSpPr>
          <p:cNvPr id="8" name="Text 6"/>
          <p:cNvSpPr/>
          <p:nvPr/>
        </p:nvSpPr>
        <p:spPr>
          <a:xfrm>
            <a:off x="822960" y="1463040"/>
            <a:ext cx="3246120" cy="640080"/>
          </a:xfrm>
          <a:prstGeom prst="rect">
            <a:avLst/>
          </a:prstGeom>
          <a:noFill/>
          <a:ln/>
        </p:spPr>
        <p:txBody>
          <a:bodyPr wrap="square" rtlCol="0" anchor="ctr"/>
          <a:lstStyle/>
          <a:p>
            <a:pPr marL="0" indent="0">
              <a:buNone/>
            </a:pPr>
            <a:r>
              <a:rPr lang="en-US" sz="3600" b="1" dirty="0">
                <a:solidFill>
                  <a:srgbClr val="2F80ED"/>
                </a:solidFill>
                <a:latin typeface="Calibri" pitchFamily="34" charset="0"/>
                <a:ea typeface="Calibri" pitchFamily="34" charset="-122"/>
                <a:cs typeface="Calibri" pitchFamily="34" charset="-120"/>
              </a:rPr>
              <a:t>False </a:t>
            </a:r>
            <a:r>
              <a:rPr lang="en-US" sz="3200" b="1" dirty="0">
                <a:solidFill>
                  <a:srgbClr val="2F80ED"/>
                </a:solidFill>
                <a:latin typeface="Calibri" pitchFamily="34" charset="0"/>
                <a:ea typeface="Calibri" pitchFamily="34" charset="-122"/>
                <a:cs typeface="Calibri" pitchFamily="34" charset="-120"/>
              </a:rPr>
              <a:t>Positive</a:t>
            </a:r>
            <a:endParaRPr lang="en-US" sz="3600" dirty="0"/>
          </a:p>
        </p:txBody>
      </p:sp>
      <p:sp>
        <p:nvSpPr>
          <p:cNvPr id="9" name="Text 7"/>
          <p:cNvSpPr/>
          <p:nvPr/>
        </p:nvSpPr>
        <p:spPr>
          <a:xfrm>
            <a:off x="822960" y="2103120"/>
            <a:ext cx="3246120" cy="274320"/>
          </a:xfrm>
          <a:prstGeom prst="rect">
            <a:avLst/>
          </a:prstGeom>
          <a:noFill/>
          <a:ln/>
        </p:spPr>
        <p:txBody>
          <a:bodyPr wrap="square" rtlCol="0" anchor="ctr"/>
          <a:lstStyle/>
          <a:p>
            <a:pPr marL="0" indent="0">
              <a:buNone/>
            </a:pPr>
            <a:r>
              <a:rPr lang="en-US" sz="1400" dirty="0">
                <a:solidFill>
                  <a:srgbClr val="374151"/>
                </a:solidFill>
                <a:latin typeface="Calibri" pitchFamily="34" charset="0"/>
                <a:ea typeface="Calibri" pitchFamily="34" charset="-122"/>
                <a:cs typeface="Calibri" pitchFamily="34" charset="-120"/>
              </a:rPr>
              <a:t>Prompt lành tính nhưng bị chặn</a:t>
            </a:r>
            <a:endParaRPr lang="en-US" sz="1400" dirty="0"/>
          </a:p>
        </p:txBody>
      </p:sp>
      <p:sp>
        <p:nvSpPr>
          <p:cNvPr id="10" name="Shape 8"/>
          <p:cNvSpPr/>
          <p:nvPr/>
        </p:nvSpPr>
        <p:spPr>
          <a:xfrm>
            <a:off x="4480560" y="1051560"/>
            <a:ext cx="370332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1" name="Text 9"/>
          <p:cNvSpPr/>
          <p:nvPr/>
        </p:nvSpPr>
        <p:spPr>
          <a:xfrm>
            <a:off x="4709160" y="1216152"/>
            <a:ext cx="3246120" cy="274320"/>
          </a:xfrm>
          <a:prstGeom prst="rect">
            <a:avLst/>
          </a:prstGeom>
          <a:noFill/>
          <a:ln/>
        </p:spPr>
        <p:txBody>
          <a:bodyPr wrap="square" rtlCol="0" anchor="ctr"/>
          <a:lstStyle/>
          <a:p>
            <a:pPr marL="0" indent="0">
              <a:buNone/>
            </a:pPr>
            <a:r>
              <a:rPr lang="en-US" sz="1600" b="1" dirty="0">
                <a:solidFill>
                  <a:srgbClr val="6B7280"/>
                </a:solidFill>
                <a:latin typeface="Calibri" pitchFamily="34" charset="0"/>
                <a:ea typeface="Calibri" pitchFamily="34" charset="-122"/>
                <a:cs typeface="Calibri" pitchFamily="34" charset="-120"/>
              </a:rPr>
              <a:t>Nguyên nhân thường gặp</a:t>
            </a:r>
            <a:endParaRPr lang="en-US" sz="1600" dirty="0"/>
          </a:p>
        </p:txBody>
      </p:sp>
      <p:sp>
        <p:nvSpPr>
          <p:cNvPr id="12" name="Text 10"/>
          <p:cNvSpPr/>
          <p:nvPr/>
        </p:nvSpPr>
        <p:spPr>
          <a:xfrm>
            <a:off x="4709160" y="1463040"/>
            <a:ext cx="3246120" cy="640080"/>
          </a:xfrm>
          <a:prstGeom prst="rect">
            <a:avLst/>
          </a:prstGeom>
          <a:noFill/>
          <a:ln/>
        </p:spPr>
        <p:txBody>
          <a:bodyPr wrap="square" rtlCol="0" anchor="ctr"/>
          <a:lstStyle/>
          <a:p>
            <a:pPr marL="0" indent="0">
              <a:buNone/>
            </a:pPr>
            <a:r>
              <a:rPr lang="en-US" sz="3200" b="1" dirty="0">
                <a:solidFill>
                  <a:srgbClr val="F2994A"/>
                </a:solidFill>
                <a:latin typeface="Calibri" pitchFamily="34" charset="0"/>
                <a:ea typeface="Calibri" pitchFamily="34" charset="-122"/>
                <a:cs typeface="Calibri" pitchFamily="34" charset="-120"/>
              </a:rPr>
              <a:t>Trigger-word bias</a:t>
            </a:r>
            <a:endParaRPr lang="en-US" sz="3200" dirty="0"/>
          </a:p>
        </p:txBody>
      </p:sp>
      <p:sp>
        <p:nvSpPr>
          <p:cNvPr id="13" name="Text 11"/>
          <p:cNvSpPr/>
          <p:nvPr/>
        </p:nvSpPr>
        <p:spPr>
          <a:xfrm>
            <a:off x="4709160" y="2103120"/>
            <a:ext cx="3246120" cy="274320"/>
          </a:xfrm>
          <a:prstGeom prst="rect">
            <a:avLst/>
          </a:prstGeom>
          <a:noFill/>
          <a:ln/>
        </p:spPr>
        <p:txBody>
          <a:bodyPr wrap="square" rtlCol="0" anchor="ctr"/>
          <a:lstStyle/>
          <a:p>
            <a:pPr marL="0" indent="0">
              <a:buNone/>
            </a:pPr>
            <a:r>
              <a:rPr lang="en-US" sz="1400" dirty="0">
                <a:solidFill>
                  <a:srgbClr val="374151"/>
                </a:solidFill>
                <a:latin typeface="Calibri" pitchFamily="34" charset="0"/>
                <a:ea typeface="Calibri" pitchFamily="34" charset="-122"/>
                <a:cs typeface="Calibri" pitchFamily="34" charset="-120"/>
              </a:rPr>
              <a:t>Thấy từ nhạy cảm → kết luận tấn công</a:t>
            </a:r>
            <a:endParaRPr lang="en-US" sz="1400" dirty="0"/>
          </a:p>
        </p:txBody>
      </p:sp>
      <p:sp>
        <p:nvSpPr>
          <p:cNvPr id="14" name="Shape 12"/>
          <p:cNvSpPr/>
          <p:nvPr/>
        </p:nvSpPr>
        <p:spPr>
          <a:xfrm>
            <a:off x="8366760" y="1051560"/>
            <a:ext cx="3227832"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5" name="Text 13"/>
          <p:cNvSpPr/>
          <p:nvPr/>
        </p:nvSpPr>
        <p:spPr>
          <a:xfrm>
            <a:off x="8595360" y="1216152"/>
            <a:ext cx="2770632" cy="274320"/>
          </a:xfrm>
          <a:prstGeom prst="rect">
            <a:avLst/>
          </a:prstGeom>
          <a:noFill/>
          <a:ln/>
        </p:spPr>
        <p:txBody>
          <a:bodyPr wrap="square" rtlCol="0" anchor="ctr"/>
          <a:lstStyle/>
          <a:p>
            <a:pPr marL="0" indent="0">
              <a:buNone/>
            </a:pPr>
            <a:r>
              <a:rPr lang="en-US" sz="1600" b="1" dirty="0">
                <a:solidFill>
                  <a:srgbClr val="6B7280"/>
                </a:solidFill>
                <a:latin typeface="Calibri" pitchFamily="34" charset="0"/>
                <a:ea typeface="Calibri" pitchFamily="34" charset="-122"/>
                <a:cs typeface="Calibri" pitchFamily="34" charset="-120"/>
              </a:rPr>
              <a:t>Hệ quả</a:t>
            </a:r>
            <a:endParaRPr lang="en-US" sz="1600" dirty="0"/>
          </a:p>
        </p:txBody>
      </p:sp>
      <p:sp>
        <p:nvSpPr>
          <p:cNvPr id="16" name="Text 14"/>
          <p:cNvSpPr/>
          <p:nvPr/>
        </p:nvSpPr>
        <p:spPr>
          <a:xfrm>
            <a:off x="8595360" y="1463040"/>
            <a:ext cx="2770632" cy="640080"/>
          </a:xfrm>
          <a:prstGeom prst="rect">
            <a:avLst/>
          </a:prstGeom>
          <a:noFill/>
          <a:ln/>
        </p:spPr>
        <p:txBody>
          <a:bodyPr wrap="square" rtlCol="0" anchor="ctr"/>
          <a:lstStyle/>
          <a:p>
            <a:pPr marL="0" indent="0">
              <a:buNone/>
            </a:pPr>
            <a:r>
              <a:rPr lang="en-US" sz="3600" b="1" dirty="0">
                <a:solidFill>
                  <a:srgbClr val="EB5757"/>
                </a:solidFill>
                <a:latin typeface="Calibri" pitchFamily="34" charset="0"/>
                <a:ea typeface="Calibri" pitchFamily="34" charset="-122"/>
                <a:cs typeface="Calibri" pitchFamily="34" charset="-120"/>
              </a:rPr>
              <a:t>Mất niềm tin</a:t>
            </a:r>
            <a:endParaRPr lang="en-US" sz="3600" dirty="0"/>
          </a:p>
        </p:txBody>
      </p:sp>
      <p:sp>
        <p:nvSpPr>
          <p:cNvPr id="17" name="Text 15"/>
          <p:cNvSpPr/>
          <p:nvPr/>
        </p:nvSpPr>
        <p:spPr>
          <a:xfrm>
            <a:off x="8531352" y="2084832"/>
            <a:ext cx="3063240" cy="274320"/>
          </a:xfrm>
          <a:prstGeom prst="rect">
            <a:avLst/>
          </a:prstGeom>
          <a:noFill/>
          <a:ln/>
        </p:spPr>
        <p:txBody>
          <a:bodyPr wrap="square" rtlCol="0" anchor="ctr"/>
          <a:lstStyle/>
          <a:p>
            <a:pPr marL="0" indent="0">
              <a:buNone/>
            </a:pPr>
            <a:r>
              <a:rPr lang="en-US" sz="1400" dirty="0">
                <a:solidFill>
                  <a:srgbClr val="374151"/>
                </a:solidFill>
                <a:latin typeface="Calibri" pitchFamily="34" charset="0"/>
                <a:ea typeface="Calibri" pitchFamily="34" charset="-122"/>
                <a:cs typeface="Calibri" pitchFamily="34" charset="-120"/>
              </a:rPr>
              <a:t>Người dùng bỏ guardrail / tìm cách lách</a:t>
            </a:r>
            <a:endParaRPr lang="en-US" sz="1400" dirty="0"/>
          </a:p>
        </p:txBody>
      </p:sp>
      <p:sp>
        <p:nvSpPr>
          <p:cNvPr id="18" name="Shape 16"/>
          <p:cNvSpPr/>
          <p:nvPr/>
        </p:nvSpPr>
        <p:spPr>
          <a:xfrm>
            <a:off x="594360" y="2743200"/>
            <a:ext cx="11000232" cy="3291840"/>
          </a:xfrm>
          <a:prstGeom prst="roundRect">
            <a:avLst/>
          </a:prstGeom>
          <a:solidFill>
            <a:srgbClr val="F9FAFB"/>
          </a:solidFill>
          <a:ln w="12700">
            <a:solidFill>
              <a:srgbClr val="CBD5E1"/>
            </a:solidFill>
            <a:prstDash val="solid"/>
          </a:ln>
        </p:spPr>
        <p:txBody>
          <a:bodyPr/>
          <a:lstStyle/>
          <a:p>
            <a:endParaRPr lang="vi-VN"/>
          </a:p>
        </p:txBody>
      </p:sp>
      <p:sp>
        <p:nvSpPr>
          <p:cNvPr id="19" name="Text 17"/>
          <p:cNvSpPr/>
          <p:nvPr/>
        </p:nvSpPr>
        <p:spPr>
          <a:xfrm>
            <a:off x="868680" y="2926080"/>
            <a:ext cx="10515600" cy="320040"/>
          </a:xfrm>
          <a:prstGeom prst="rect">
            <a:avLst/>
          </a:prstGeom>
          <a:noFill/>
          <a:ln/>
        </p:spPr>
        <p:txBody>
          <a:bodyPr wrap="square"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Cơ chế gây over-defense (mô phỏng nhanh)</a:t>
            </a:r>
            <a:endParaRPr lang="en-US" sz="1600" dirty="0"/>
          </a:p>
        </p:txBody>
      </p:sp>
      <p:sp>
        <p:nvSpPr>
          <p:cNvPr id="20" name="Shape 18"/>
          <p:cNvSpPr/>
          <p:nvPr/>
        </p:nvSpPr>
        <p:spPr>
          <a:xfrm>
            <a:off x="868680" y="3429000"/>
            <a:ext cx="3291840" cy="1417320"/>
          </a:xfrm>
          <a:prstGeom prst="roundRect">
            <a:avLst/>
          </a:prstGeom>
          <a:solidFill>
            <a:srgbClr val="E0F2FE"/>
          </a:solidFill>
          <a:ln w="12700">
            <a:solidFill>
              <a:srgbClr val="7DD3FC"/>
            </a:solidFill>
            <a:prstDash val="solid"/>
          </a:ln>
        </p:spPr>
        <p:txBody>
          <a:bodyPr/>
          <a:lstStyle/>
          <a:p>
            <a:endParaRPr lang="vi-VN"/>
          </a:p>
        </p:txBody>
      </p:sp>
      <p:sp>
        <p:nvSpPr>
          <p:cNvPr id="21" name="Text 19"/>
          <p:cNvSpPr/>
          <p:nvPr/>
        </p:nvSpPr>
        <p:spPr>
          <a:xfrm>
            <a:off x="1051560" y="3566160"/>
            <a:ext cx="2926080" cy="27432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Prompt</a:t>
            </a:r>
            <a:endParaRPr lang="en-US" sz="2000" dirty="0"/>
          </a:p>
        </p:txBody>
      </p:sp>
      <p:sp>
        <p:nvSpPr>
          <p:cNvPr id="22" name="Text 20"/>
          <p:cNvSpPr/>
          <p:nvPr/>
        </p:nvSpPr>
        <p:spPr>
          <a:xfrm>
            <a:off x="1051560" y="3886200"/>
            <a:ext cx="2926080" cy="822960"/>
          </a:xfrm>
          <a:prstGeom prst="rect">
            <a:avLst/>
          </a:prstGeom>
          <a:noFill/>
          <a:ln/>
        </p:spPr>
        <p:txBody>
          <a:bodyPr wrap="square" rtlCol="0" anchor="ctr"/>
          <a:lstStyle/>
          <a:p>
            <a:pPr marL="0" indent="0">
              <a:buNone/>
            </a:pPr>
            <a:r>
              <a:rPr lang="en-US" dirty="0">
                <a:solidFill>
                  <a:srgbClr val="374151"/>
                </a:solidFill>
                <a:latin typeface="Calibri" pitchFamily="34" charset="0"/>
                <a:ea typeface="Calibri" pitchFamily="34" charset="-122"/>
                <a:cs typeface="Calibri" pitchFamily="34" charset="-120"/>
              </a:rPr>
              <a:t>“giết sâu bọ trong vườn?”</a:t>
            </a:r>
            <a:endParaRPr lang="en-US" dirty="0"/>
          </a:p>
        </p:txBody>
      </p:sp>
      <p:sp>
        <p:nvSpPr>
          <p:cNvPr id="23" name="Shape 21"/>
          <p:cNvSpPr/>
          <p:nvPr/>
        </p:nvSpPr>
        <p:spPr>
          <a:xfrm>
            <a:off x="4251960" y="4137660"/>
            <a:ext cx="0" cy="0"/>
          </a:xfrm>
          <a:prstGeom prst="line">
            <a:avLst/>
          </a:prstGeom>
          <a:noFill/>
          <a:ln w="12700">
            <a:solidFill>
              <a:srgbClr val="6B7280"/>
            </a:solidFill>
            <a:prstDash val="solid"/>
            <a:headEnd type="none"/>
            <a:tailEnd type="triangle"/>
          </a:ln>
        </p:spPr>
        <p:txBody>
          <a:bodyPr/>
          <a:lstStyle/>
          <a:p>
            <a:endParaRPr lang="vi-VN" sz="2400"/>
          </a:p>
        </p:txBody>
      </p:sp>
      <p:sp>
        <p:nvSpPr>
          <p:cNvPr id="24" name="Shape 22"/>
          <p:cNvSpPr/>
          <p:nvPr/>
        </p:nvSpPr>
        <p:spPr>
          <a:xfrm>
            <a:off x="3977640" y="3429000"/>
            <a:ext cx="3291840" cy="1417320"/>
          </a:xfrm>
          <a:prstGeom prst="roundRect">
            <a:avLst/>
          </a:prstGeom>
          <a:solidFill>
            <a:srgbClr val="FEF3C7"/>
          </a:solidFill>
          <a:ln w="12700">
            <a:solidFill>
              <a:srgbClr val="FCD34D"/>
            </a:solidFill>
            <a:prstDash val="solid"/>
          </a:ln>
        </p:spPr>
        <p:txBody>
          <a:bodyPr/>
          <a:lstStyle/>
          <a:p>
            <a:endParaRPr lang="vi-VN"/>
          </a:p>
        </p:txBody>
      </p:sp>
      <p:sp>
        <p:nvSpPr>
          <p:cNvPr id="25" name="Text 23"/>
          <p:cNvSpPr/>
          <p:nvPr/>
        </p:nvSpPr>
        <p:spPr>
          <a:xfrm>
            <a:off x="4160520" y="3566160"/>
            <a:ext cx="2926080" cy="27432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Tokenizer</a:t>
            </a:r>
            <a:endParaRPr lang="en-US" sz="2000" dirty="0"/>
          </a:p>
        </p:txBody>
      </p:sp>
      <p:sp>
        <p:nvSpPr>
          <p:cNvPr id="26" name="Text 24"/>
          <p:cNvSpPr/>
          <p:nvPr/>
        </p:nvSpPr>
        <p:spPr>
          <a:xfrm>
            <a:off x="4160520" y="3886200"/>
            <a:ext cx="2926080" cy="822960"/>
          </a:xfrm>
          <a:prstGeom prst="rect">
            <a:avLst/>
          </a:prstGeom>
          <a:noFill/>
          <a:ln/>
        </p:spPr>
        <p:txBody>
          <a:bodyPr wrap="square" rtlCol="0" anchor="ctr"/>
          <a:lstStyle/>
          <a:p>
            <a:pPr marL="0" indent="0">
              <a:buNone/>
            </a:pPr>
            <a:r>
              <a:rPr lang="en-US" dirty="0">
                <a:solidFill>
                  <a:srgbClr val="374151"/>
                </a:solidFill>
                <a:latin typeface="Calibri" pitchFamily="34" charset="0"/>
                <a:ea typeface="Calibri" pitchFamily="34" charset="-122"/>
                <a:cs typeface="Calibri" pitchFamily="34" charset="-120"/>
              </a:rPr>
              <a:t>giết | sâu | bọ  (mất cụm)</a:t>
            </a:r>
            <a:endParaRPr lang="en-US" dirty="0"/>
          </a:p>
        </p:txBody>
      </p:sp>
      <p:sp>
        <p:nvSpPr>
          <p:cNvPr id="27" name="Shape 25"/>
          <p:cNvSpPr/>
          <p:nvPr/>
        </p:nvSpPr>
        <p:spPr>
          <a:xfrm>
            <a:off x="7360920" y="4137660"/>
            <a:ext cx="0" cy="0"/>
          </a:xfrm>
          <a:prstGeom prst="line">
            <a:avLst/>
          </a:prstGeom>
          <a:noFill/>
          <a:ln w="12700">
            <a:solidFill>
              <a:srgbClr val="6B7280"/>
            </a:solidFill>
            <a:prstDash val="solid"/>
            <a:headEnd type="none"/>
            <a:tailEnd type="triangle"/>
          </a:ln>
        </p:spPr>
        <p:txBody>
          <a:bodyPr/>
          <a:lstStyle/>
          <a:p>
            <a:endParaRPr lang="vi-VN" sz="2400"/>
          </a:p>
        </p:txBody>
      </p:sp>
      <p:sp>
        <p:nvSpPr>
          <p:cNvPr id="28" name="Shape 26"/>
          <p:cNvSpPr/>
          <p:nvPr/>
        </p:nvSpPr>
        <p:spPr>
          <a:xfrm>
            <a:off x="7086600" y="3429000"/>
            <a:ext cx="3291840" cy="1417320"/>
          </a:xfrm>
          <a:prstGeom prst="roundRect">
            <a:avLst/>
          </a:prstGeom>
          <a:solidFill>
            <a:srgbClr val="FEE2E2"/>
          </a:solidFill>
          <a:ln w="12700">
            <a:solidFill>
              <a:srgbClr val="FCA5A5"/>
            </a:solidFill>
            <a:prstDash val="solid"/>
          </a:ln>
        </p:spPr>
        <p:txBody>
          <a:bodyPr/>
          <a:lstStyle/>
          <a:p>
            <a:endParaRPr lang="vi-VN"/>
          </a:p>
        </p:txBody>
      </p:sp>
      <p:sp>
        <p:nvSpPr>
          <p:cNvPr id="29" name="Text 27"/>
          <p:cNvSpPr/>
          <p:nvPr/>
        </p:nvSpPr>
        <p:spPr>
          <a:xfrm>
            <a:off x="7269480" y="3566160"/>
            <a:ext cx="2926080" cy="27432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Guardrail</a:t>
            </a:r>
            <a:endParaRPr lang="en-US" sz="2000" dirty="0"/>
          </a:p>
        </p:txBody>
      </p:sp>
      <p:sp>
        <p:nvSpPr>
          <p:cNvPr id="30" name="Text 28"/>
          <p:cNvSpPr/>
          <p:nvPr/>
        </p:nvSpPr>
        <p:spPr>
          <a:xfrm>
            <a:off x="7269480" y="3886200"/>
            <a:ext cx="2926080" cy="822960"/>
          </a:xfrm>
          <a:prstGeom prst="rect">
            <a:avLst/>
          </a:prstGeom>
          <a:noFill/>
          <a:ln/>
        </p:spPr>
        <p:txBody>
          <a:bodyPr wrap="square" rtlCol="0" anchor="ctr"/>
          <a:lstStyle/>
          <a:p>
            <a:pPr marL="0" indent="0">
              <a:buNone/>
            </a:pPr>
            <a:r>
              <a:rPr lang="en-US" dirty="0">
                <a:solidFill>
                  <a:srgbClr val="374151"/>
                </a:solidFill>
                <a:latin typeface="Calibri" pitchFamily="34" charset="0"/>
                <a:ea typeface="Calibri" pitchFamily="34" charset="-122"/>
                <a:cs typeface="Calibri" pitchFamily="34" charset="-120"/>
              </a:rPr>
              <a:t>=&gt; *Attack* (chặn nhầm)</a:t>
            </a:r>
            <a:endParaRPr lang="en-US" dirty="0"/>
          </a:p>
        </p:txBody>
      </p:sp>
      <p:sp>
        <p:nvSpPr>
          <p:cNvPr id="31" name="Text 29"/>
          <p:cNvSpPr/>
          <p:nvPr/>
        </p:nvSpPr>
        <p:spPr>
          <a:xfrm>
            <a:off x="868680" y="5074920"/>
            <a:ext cx="10607040" cy="457200"/>
          </a:xfrm>
          <a:prstGeom prst="rect">
            <a:avLst/>
          </a:prstGeom>
          <a:noFill/>
          <a:ln/>
        </p:spPr>
        <p:txBody>
          <a:bodyPr wrap="square"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Insight: Với ngôn ngữ giàu từ ghép như tiếng Việt, *tokenization* có thể quyết định 80% lỗi over-defense.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59" y="128016"/>
            <a:ext cx="9740085"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Language gap: Tokenizer </a:t>
            </a:r>
            <a:r>
              <a:rPr lang="en-US" sz="3200" b="1" dirty="0" err="1">
                <a:solidFill>
                  <a:srgbClr val="FFFFFF"/>
                </a:solidFill>
                <a:latin typeface="Calibri" pitchFamily="34" charset="0"/>
                <a:ea typeface="Calibri" pitchFamily="34" charset="-122"/>
                <a:cs typeface="Calibri" pitchFamily="34" charset="-120"/>
              </a:rPr>
              <a:t>tiếng</a:t>
            </a:r>
            <a:r>
              <a:rPr lang="en-US" sz="3200" b="1" dirty="0">
                <a:solidFill>
                  <a:srgbClr val="FFFFFF"/>
                </a:solidFill>
                <a:latin typeface="Calibri" pitchFamily="34" charset="0"/>
                <a:ea typeface="Calibri" pitchFamily="34" charset="-122"/>
                <a:cs typeface="Calibri" pitchFamily="34" charset="-120"/>
              </a:rPr>
              <a:t> Anh "</a:t>
            </a:r>
            <a:r>
              <a:rPr lang="en-US" sz="3200" b="1" dirty="0" err="1">
                <a:solidFill>
                  <a:srgbClr val="FFFFFF"/>
                </a:solidFill>
                <a:latin typeface="Calibri" pitchFamily="34" charset="0"/>
                <a:ea typeface="Calibri" pitchFamily="34" charset="-122"/>
                <a:cs typeface="Calibri" pitchFamily="34" charset="-120"/>
              </a:rPr>
              <a:t>vỡ</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nghĩa</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tiếng</a:t>
            </a:r>
            <a:r>
              <a:rPr lang="en-US" sz="3200" b="1" dirty="0">
                <a:solidFill>
                  <a:srgbClr val="FFFFFF"/>
                </a:solidFill>
                <a:latin typeface="Calibri" pitchFamily="34" charset="0"/>
                <a:ea typeface="Calibri" pitchFamily="34" charset="-122"/>
                <a:cs typeface="Calibri" pitchFamily="34" charset="-120"/>
              </a:rPr>
              <a:t> Việt</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Nguyên nhân</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868680"/>
            <a:ext cx="2011680" cy="384048"/>
          </a:xfrm>
          <a:prstGeom prst="roundRect">
            <a:avLst/>
          </a:prstGeom>
          <a:solidFill>
            <a:srgbClr val="F2994A"/>
          </a:solidFill>
          <a:ln w="12700">
            <a:solidFill>
              <a:srgbClr val="F2994A"/>
            </a:solidFill>
            <a:prstDash val="solid"/>
          </a:ln>
        </p:spPr>
        <p:txBody>
          <a:bodyPr/>
          <a:lstStyle/>
          <a:p>
            <a:endParaRPr lang="vi-VN"/>
          </a:p>
        </p:txBody>
      </p:sp>
      <p:sp>
        <p:nvSpPr>
          <p:cNvPr id="7" name="Text 5"/>
          <p:cNvSpPr/>
          <p:nvPr/>
        </p:nvSpPr>
        <p:spPr>
          <a:xfrm>
            <a:off x="594360" y="907326"/>
            <a:ext cx="201168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Nguyên nhân</a:t>
            </a:r>
            <a:endParaRPr lang="en-US" sz="2400" dirty="0"/>
          </a:p>
        </p:txBody>
      </p:sp>
      <p:sp>
        <p:nvSpPr>
          <p:cNvPr id="8" name="Text 6"/>
          <p:cNvSpPr/>
          <p:nvPr/>
        </p:nvSpPr>
        <p:spPr>
          <a:xfrm>
            <a:off x="594359" y="1325880"/>
            <a:ext cx="11292841" cy="502920"/>
          </a:xfrm>
          <a:prstGeom prst="rect">
            <a:avLst/>
          </a:prstGeom>
          <a:noFill/>
          <a:ln/>
        </p:spPr>
        <p:txBody>
          <a:bodyPr wrap="square" rtlCol="0" anchor="ctr"/>
          <a:lstStyle/>
          <a:p>
            <a:pPr marL="0" indent="0">
              <a:buNone/>
            </a:pPr>
            <a:r>
              <a:rPr lang="en-US" dirty="0">
                <a:solidFill>
                  <a:srgbClr val="374151"/>
                </a:solidFill>
                <a:latin typeface="Calibri" pitchFamily="34" charset="0"/>
                <a:ea typeface="Calibri" pitchFamily="34" charset="-122"/>
                <a:cs typeface="Calibri" pitchFamily="34" charset="-120"/>
              </a:rPr>
              <a:t>Tiếng Việt nhiều *từ ghép đa âm tiết*. Nếu tokenizer tách vụn → mô hình nhạy quá với các từ đơn (giết, chết, đánh…).</a:t>
            </a:r>
            <a:endParaRPr lang="en-US" dirty="0"/>
          </a:p>
        </p:txBody>
      </p:sp>
      <p:sp>
        <p:nvSpPr>
          <p:cNvPr id="9" name="Shape 7"/>
          <p:cNvSpPr/>
          <p:nvPr/>
        </p:nvSpPr>
        <p:spPr>
          <a:xfrm>
            <a:off x="594360" y="2011680"/>
            <a:ext cx="5394960" cy="4480560"/>
          </a:xfrm>
          <a:prstGeom prst="roundRect">
            <a:avLst/>
          </a:prstGeom>
          <a:solidFill>
            <a:srgbClr val="F9FAFB"/>
          </a:solidFill>
          <a:ln w="12700">
            <a:solidFill>
              <a:srgbClr val="CBD5E1"/>
            </a:solidFill>
            <a:prstDash val="solid"/>
          </a:ln>
        </p:spPr>
        <p:txBody>
          <a:bodyPr/>
          <a:lstStyle/>
          <a:p>
            <a:endParaRPr lang="vi-VN"/>
          </a:p>
        </p:txBody>
      </p:sp>
      <p:sp>
        <p:nvSpPr>
          <p:cNvPr id="10" name="Text 8"/>
          <p:cNvSpPr/>
          <p:nvPr/>
        </p:nvSpPr>
        <p:spPr>
          <a:xfrm>
            <a:off x="868680" y="2212848"/>
            <a:ext cx="4846320" cy="457200"/>
          </a:xfrm>
          <a:prstGeom prst="rect">
            <a:avLst/>
          </a:prstGeom>
          <a:noFill/>
          <a:ln/>
        </p:spPr>
        <p:txBody>
          <a:bodyPr wrap="square" rtlCol="0" anchor="ctr"/>
          <a:lstStyle/>
          <a:p>
            <a:pPr marL="0" indent="0">
              <a:buNone/>
            </a:pPr>
            <a:r>
              <a:rPr lang="en-US" b="1" dirty="0">
                <a:solidFill>
                  <a:srgbClr val="111827"/>
                </a:solidFill>
                <a:latin typeface="Calibri" pitchFamily="34" charset="0"/>
                <a:ea typeface="Calibri" pitchFamily="34" charset="-122"/>
                <a:cs typeface="Calibri" pitchFamily="34" charset="-120"/>
              </a:rPr>
              <a:t>DeBERTa + SentencePiece (không tối ưu tiếng Việt)</a:t>
            </a:r>
            <a:endParaRPr lang="en-US" dirty="0"/>
          </a:p>
        </p:txBody>
      </p:sp>
      <p:sp>
        <p:nvSpPr>
          <p:cNvPr id="11" name="Text 9"/>
          <p:cNvSpPr/>
          <p:nvPr/>
        </p:nvSpPr>
        <p:spPr>
          <a:xfrm>
            <a:off x="914400" y="2788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“mật khẩu”</a:t>
            </a:r>
            <a:endParaRPr lang="en-US" sz="1300" dirty="0"/>
          </a:p>
        </p:txBody>
      </p:sp>
      <p:sp>
        <p:nvSpPr>
          <p:cNvPr id="12" name="Shape 10"/>
          <p:cNvSpPr/>
          <p:nvPr/>
        </p:nvSpPr>
        <p:spPr>
          <a:xfrm>
            <a:off x="2331720" y="2871389"/>
            <a:ext cx="3200400" cy="411480"/>
          </a:xfrm>
          <a:prstGeom prst="roundRect">
            <a:avLst/>
          </a:prstGeom>
          <a:solidFill>
            <a:srgbClr val="FEE2E2"/>
          </a:solidFill>
          <a:ln w="12700">
            <a:solidFill>
              <a:srgbClr val="FCA5A5"/>
            </a:solidFill>
            <a:prstDash val="solid"/>
          </a:ln>
        </p:spPr>
        <p:txBody>
          <a:bodyPr/>
          <a:lstStyle/>
          <a:p>
            <a:endParaRPr lang="vi-VN"/>
          </a:p>
        </p:txBody>
      </p:sp>
      <p:sp>
        <p:nvSpPr>
          <p:cNvPr id="13" name="Text 11"/>
          <p:cNvSpPr/>
          <p:nvPr/>
        </p:nvSpPr>
        <p:spPr>
          <a:xfrm>
            <a:off x="2441448" y="2917109"/>
            <a:ext cx="2926080" cy="320040"/>
          </a:xfrm>
          <a:prstGeom prst="rect">
            <a:avLst/>
          </a:prstGeom>
          <a:noFill/>
          <a:ln/>
        </p:spPr>
        <p:txBody>
          <a:bodyPr wrap="square" rtlCol="0" anchor="ctr"/>
          <a:lstStyle/>
          <a:p>
            <a:pPr marL="0" indent="0">
              <a:buNone/>
            </a:pPr>
            <a:r>
              <a:rPr lang="en-US" sz="1400" b="1" dirty="0">
                <a:solidFill>
                  <a:srgbClr val="991B1B"/>
                </a:solidFill>
                <a:latin typeface="Calibri" pitchFamily="34" charset="0"/>
                <a:ea typeface="Calibri" pitchFamily="34" charset="-122"/>
                <a:cs typeface="Calibri" pitchFamily="34" charset="-120"/>
              </a:rPr>
              <a:t>mật | khẩu</a:t>
            </a:r>
            <a:endParaRPr lang="en-US" sz="1400" dirty="0"/>
          </a:p>
        </p:txBody>
      </p:sp>
      <p:sp>
        <p:nvSpPr>
          <p:cNvPr id="14" name="Text 12"/>
          <p:cNvSpPr/>
          <p:nvPr/>
        </p:nvSpPr>
        <p:spPr>
          <a:xfrm>
            <a:off x="914400" y="3172968"/>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mất cụm nghĩa</a:t>
            </a:r>
            <a:endParaRPr lang="en-US" sz="1200" dirty="0"/>
          </a:p>
        </p:txBody>
      </p:sp>
      <p:sp>
        <p:nvSpPr>
          <p:cNvPr id="15" name="Text 13"/>
          <p:cNvSpPr/>
          <p:nvPr/>
        </p:nvSpPr>
        <p:spPr>
          <a:xfrm>
            <a:off x="914400" y="3931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“cách ly”</a:t>
            </a:r>
            <a:endParaRPr lang="en-US" sz="1300" dirty="0"/>
          </a:p>
        </p:txBody>
      </p:sp>
      <p:sp>
        <p:nvSpPr>
          <p:cNvPr id="16" name="Shape 14"/>
          <p:cNvSpPr/>
          <p:nvPr/>
        </p:nvSpPr>
        <p:spPr>
          <a:xfrm>
            <a:off x="2331720" y="4017753"/>
            <a:ext cx="3200400" cy="411480"/>
          </a:xfrm>
          <a:prstGeom prst="roundRect">
            <a:avLst/>
          </a:prstGeom>
          <a:solidFill>
            <a:srgbClr val="FEE2E2"/>
          </a:solidFill>
          <a:ln w="12700">
            <a:solidFill>
              <a:srgbClr val="FCA5A5"/>
            </a:solidFill>
            <a:prstDash val="solid"/>
          </a:ln>
        </p:spPr>
        <p:txBody>
          <a:bodyPr/>
          <a:lstStyle/>
          <a:p>
            <a:endParaRPr lang="vi-VN"/>
          </a:p>
        </p:txBody>
      </p:sp>
      <p:sp>
        <p:nvSpPr>
          <p:cNvPr id="17" name="Text 15"/>
          <p:cNvSpPr/>
          <p:nvPr/>
        </p:nvSpPr>
        <p:spPr>
          <a:xfrm>
            <a:off x="2468880" y="4081761"/>
            <a:ext cx="2926080" cy="320040"/>
          </a:xfrm>
          <a:prstGeom prst="rect">
            <a:avLst/>
          </a:prstGeom>
          <a:noFill/>
          <a:ln/>
        </p:spPr>
        <p:txBody>
          <a:bodyPr wrap="square" rtlCol="0" anchor="ctr"/>
          <a:lstStyle/>
          <a:p>
            <a:pPr marL="0" indent="0">
              <a:buNone/>
            </a:pPr>
            <a:r>
              <a:rPr lang="en-US" sz="1400" b="1" dirty="0">
                <a:solidFill>
                  <a:srgbClr val="991B1B"/>
                </a:solidFill>
                <a:latin typeface="Calibri" pitchFamily="34" charset="0"/>
                <a:ea typeface="Calibri" pitchFamily="34" charset="-122"/>
                <a:cs typeface="Calibri" pitchFamily="34" charset="-120"/>
              </a:rPr>
              <a:t>cách | ly</a:t>
            </a:r>
            <a:endParaRPr lang="en-US" sz="1400" dirty="0"/>
          </a:p>
        </p:txBody>
      </p:sp>
      <p:sp>
        <p:nvSpPr>
          <p:cNvPr id="18" name="Text 16"/>
          <p:cNvSpPr/>
          <p:nvPr/>
        </p:nvSpPr>
        <p:spPr>
          <a:xfrm>
            <a:off x="914400" y="4315968"/>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dễ hiểu sai</a:t>
            </a:r>
            <a:endParaRPr lang="en-US" sz="1200" dirty="0"/>
          </a:p>
        </p:txBody>
      </p:sp>
      <p:sp>
        <p:nvSpPr>
          <p:cNvPr id="19" name="Text 17"/>
          <p:cNvSpPr/>
          <p:nvPr/>
        </p:nvSpPr>
        <p:spPr>
          <a:xfrm>
            <a:off x="914400" y="5074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“giết sâu bọ”</a:t>
            </a:r>
            <a:endParaRPr lang="en-US" sz="1300" dirty="0"/>
          </a:p>
        </p:txBody>
      </p:sp>
      <p:sp>
        <p:nvSpPr>
          <p:cNvPr id="20" name="Shape 18"/>
          <p:cNvSpPr/>
          <p:nvPr/>
        </p:nvSpPr>
        <p:spPr>
          <a:xfrm>
            <a:off x="2304288" y="5097780"/>
            <a:ext cx="3200400" cy="411480"/>
          </a:xfrm>
          <a:prstGeom prst="roundRect">
            <a:avLst/>
          </a:prstGeom>
          <a:solidFill>
            <a:srgbClr val="FEE2E2"/>
          </a:solidFill>
          <a:ln w="12700">
            <a:solidFill>
              <a:srgbClr val="FCA5A5"/>
            </a:solidFill>
            <a:prstDash val="solid"/>
          </a:ln>
        </p:spPr>
        <p:txBody>
          <a:bodyPr/>
          <a:lstStyle/>
          <a:p>
            <a:endParaRPr lang="vi-VN"/>
          </a:p>
        </p:txBody>
      </p:sp>
      <p:sp>
        <p:nvSpPr>
          <p:cNvPr id="21" name="Text 19"/>
          <p:cNvSpPr/>
          <p:nvPr/>
        </p:nvSpPr>
        <p:spPr>
          <a:xfrm>
            <a:off x="2441448" y="5161788"/>
            <a:ext cx="2926080" cy="320040"/>
          </a:xfrm>
          <a:prstGeom prst="rect">
            <a:avLst/>
          </a:prstGeom>
          <a:noFill/>
          <a:ln/>
        </p:spPr>
        <p:txBody>
          <a:bodyPr wrap="square" rtlCol="0" anchor="ctr"/>
          <a:lstStyle/>
          <a:p>
            <a:pPr marL="0" indent="0">
              <a:buNone/>
            </a:pPr>
            <a:r>
              <a:rPr lang="en-US" sz="1400" b="1" dirty="0">
                <a:solidFill>
                  <a:srgbClr val="991B1B"/>
                </a:solidFill>
                <a:latin typeface="Calibri" pitchFamily="34" charset="0"/>
                <a:ea typeface="Calibri" pitchFamily="34" charset="-122"/>
                <a:cs typeface="Calibri" pitchFamily="34" charset="-120"/>
              </a:rPr>
              <a:t>giết | sâu | bọ</a:t>
            </a:r>
            <a:endParaRPr lang="en-US" sz="1400" dirty="0"/>
          </a:p>
        </p:txBody>
      </p:sp>
      <p:sp>
        <p:nvSpPr>
          <p:cNvPr id="22" name="Text 20"/>
          <p:cNvSpPr/>
          <p:nvPr/>
        </p:nvSpPr>
        <p:spPr>
          <a:xfrm>
            <a:off x="914400" y="5458968"/>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trigger-word bias</a:t>
            </a:r>
            <a:endParaRPr lang="en-US" sz="1200" dirty="0"/>
          </a:p>
        </p:txBody>
      </p:sp>
      <p:sp>
        <p:nvSpPr>
          <p:cNvPr id="23" name="Shape 21"/>
          <p:cNvSpPr/>
          <p:nvPr/>
        </p:nvSpPr>
        <p:spPr>
          <a:xfrm>
            <a:off x="6199632" y="2011680"/>
            <a:ext cx="5394960" cy="4480560"/>
          </a:xfrm>
          <a:prstGeom prst="roundRect">
            <a:avLst/>
          </a:prstGeom>
          <a:solidFill>
            <a:srgbClr val="F9FAFB"/>
          </a:solidFill>
          <a:ln w="12700">
            <a:solidFill>
              <a:srgbClr val="CBD5E1"/>
            </a:solidFill>
            <a:prstDash val="solid"/>
          </a:ln>
        </p:spPr>
        <p:txBody>
          <a:bodyPr/>
          <a:lstStyle/>
          <a:p>
            <a:endParaRPr lang="vi-VN"/>
          </a:p>
        </p:txBody>
      </p:sp>
      <p:sp>
        <p:nvSpPr>
          <p:cNvPr id="24" name="Text 22"/>
          <p:cNvSpPr/>
          <p:nvPr/>
        </p:nvSpPr>
        <p:spPr>
          <a:xfrm>
            <a:off x="6473952" y="2212848"/>
            <a:ext cx="4846320" cy="457200"/>
          </a:xfrm>
          <a:prstGeom prst="rect">
            <a:avLst/>
          </a:prstGeom>
          <a:noFill/>
          <a:ln/>
        </p:spPr>
        <p:txBody>
          <a:bodyPr wrap="square" rtlCol="0" anchor="ctr"/>
          <a:lstStyle/>
          <a:p>
            <a:pPr marL="0" indent="0">
              <a:buNone/>
            </a:pPr>
            <a:r>
              <a:rPr lang="en-US" b="1" dirty="0">
                <a:solidFill>
                  <a:srgbClr val="111827"/>
                </a:solidFill>
                <a:latin typeface="Calibri" pitchFamily="34" charset="0"/>
                <a:ea typeface="Calibri" pitchFamily="34" charset="-122"/>
                <a:cs typeface="Calibri" pitchFamily="34" charset="-120"/>
              </a:rPr>
              <a:t>PhoBERT + word segmentation (giữ cụm nghĩa)</a:t>
            </a:r>
            <a:endParaRPr lang="en-US" dirty="0"/>
          </a:p>
        </p:txBody>
      </p:sp>
      <p:sp>
        <p:nvSpPr>
          <p:cNvPr id="25" name="Text 23"/>
          <p:cNvSpPr/>
          <p:nvPr/>
        </p:nvSpPr>
        <p:spPr>
          <a:xfrm>
            <a:off x="6519672" y="2788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“mật khẩu”</a:t>
            </a:r>
            <a:endParaRPr lang="en-US" sz="1300" dirty="0"/>
          </a:p>
        </p:txBody>
      </p:sp>
      <p:sp>
        <p:nvSpPr>
          <p:cNvPr id="26" name="Shape 24"/>
          <p:cNvSpPr/>
          <p:nvPr/>
        </p:nvSpPr>
        <p:spPr>
          <a:xfrm>
            <a:off x="7936992" y="2788920"/>
            <a:ext cx="3200400" cy="411480"/>
          </a:xfrm>
          <a:prstGeom prst="roundRect">
            <a:avLst/>
          </a:prstGeom>
          <a:solidFill>
            <a:srgbClr val="DCFCE7"/>
          </a:solidFill>
          <a:ln w="12700">
            <a:solidFill>
              <a:srgbClr val="86EFAC"/>
            </a:solidFill>
            <a:prstDash val="solid"/>
          </a:ln>
        </p:spPr>
        <p:txBody>
          <a:bodyPr/>
          <a:lstStyle/>
          <a:p>
            <a:endParaRPr lang="vi-VN"/>
          </a:p>
        </p:txBody>
      </p:sp>
      <p:sp>
        <p:nvSpPr>
          <p:cNvPr id="27" name="Text 25"/>
          <p:cNvSpPr/>
          <p:nvPr/>
        </p:nvSpPr>
        <p:spPr>
          <a:xfrm>
            <a:off x="8074152" y="2852928"/>
            <a:ext cx="2926080" cy="320040"/>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mật_khẩu</a:t>
            </a:r>
            <a:endParaRPr lang="en-US" sz="1400" dirty="0"/>
          </a:p>
        </p:txBody>
      </p:sp>
      <p:sp>
        <p:nvSpPr>
          <p:cNvPr id="28" name="Text 26"/>
          <p:cNvSpPr/>
          <p:nvPr/>
        </p:nvSpPr>
        <p:spPr>
          <a:xfrm>
            <a:off x="6309360" y="3182112"/>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1 token = 1 đơn vị nghĩa</a:t>
            </a:r>
            <a:endParaRPr lang="en-US" sz="1200" dirty="0"/>
          </a:p>
        </p:txBody>
      </p:sp>
      <p:sp>
        <p:nvSpPr>
          <p:cNvPr id="29" name="Text 27"/>
          <p:cNvSpPr/>
          <p:nvPr/>
        </p:nvSpPr>
        <p:spPr>
          <a:xfrm>
            <a:off x="6519672" y="3931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“cách ly”</a:t>
            </a:r>
            <a:endParaRPr lang="en-US" sz="1300" dirty="0"/>
          </a:p>
        </p:txBody>
      </p:sp>
      <p:sp>
        <p:nvSpPr>
          <p:cNvPr id="30" name="Shape 28"/>
          <p:cNvSpPr/>
          <p:nvPr/>
        </p:nvSpPr>
        <p:spPr>
          <a:xfrm>
            <a:off x="7936992" y="3961638"/>
            <a:ext cx="3200400" cy="411480"/>
          </a:xfrm>
          <a:prstGeom prst="roundRect">
            <a:avLst/>
          </a:prstGeom>
          <a:solidFill>
            <a:srgbClr val="DCFCE7"/>
          </a:solidFill>
          <a:ln w="12700">
            <a:solidFill>
              <a:srgbClr val="86EFAC"/>
            </a:solidFill>
            <a:prstDash val="solid"/>
          </a:ln>
        </p:spPr>
        <p:txBody>
          <a:bodyPr/>
          <a:lstStyle/>
          <a:p>
            <a:endParaRPr lang="vi-VN"/>
          </a:p>
        </p:txBody>
      </p:sp>
      <p:sp>
        <p:nvSpPr>
          <p:cNvPr id="31" name="Text 29"/>
          <p:cNvSpPr/>
          <p:nvPr/>
        </p:nvSpPr>
        <p:spPr>
          <a:xfrm>
            <a:off x="8074152" y="4025646"/>
            <a:ext cx="2926080" cy="320040"/>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cách_ly</a:t>
            </a:r>
            <a:endParaRPr lang="en-US" sz="1400" dirty="0"/>
          </a:p>
        </p:txBody>
      </p:sp>
      <p:sp>
        <p:nvSpPr>
          <p:cNvPr id="32" name="Text 30"/>
          <p:cNvSpPr/>
          <p:nvPr/>
        </p:nvSpPr>
        <p:spPr>
          <a:xfrm>
            <a:off x="6295384" y="4229100"/>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gắn đúng khái niệm</a:t>
            </a:r>
            <a:endParaRPr lang="en-US" sz="1200" dirty="0"/>
          </a:p>
        </p:txBody>
      </p:sp>
      <p:sp>
        <p:nvSpPr>
          <p:cNvPr id="33" name="Text 31"/>
          <p:cNvSpPr/>
          <p:nvPr/>
        </p:nvSpPr>
        <p:spPr>
          <a:xfrm>
            <a:off x="6519672" y="5074920"/>
            <a:ext cx="1234440" cy="27432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“giết sâu bọ”</a:t>
            </a:r>
            <a:endParaRPr lang="en-US" sz="1300" dirty="0"/>
          </a:p>
        </p:txBody>
      </p:sp>
      <p:sp>
        <p:nvSpPr>
          <p:cNvPr id="34" name="Shape 32"/>
          <p:cNvSpPr/>
          <p:nvPr/>
        </p:nvSpPr>
        <p:spPr>
          <a:xfrm>
            <a:off x="7936992" y="5029200"/>
            <a:ext cx="3200400" cy="411480"/>
          </a:xfrm>
          <a:prstGeom prst="roundRect">
            <a:avLst/>
          </a:prstGeom>
          <a:solidFill>
            <a:srgbClr val="DCFCE7"/>
          </a:solidFill>
          <a:ln w="12700">
            <a:solidFill>
              <a:srgbClr val="86EFAC"/>
            </a:solidFill>
            <a:prstDash val="solid"/>
          </a:ln>
        </p:spPr>
        <p:txBody>
          <a:bodyPr/>
          <a:lstStyle/>
          <a:p>
            <a:endParaRPr lang="vi-VN"/>
          </a:p>
        </p:txBody>
      </p:sp>
      <p:sp>
        <p:nvSpPr>
          <p:cNvPr id="35" name="Text 33"/>
          <p:cNvSpPr/>
          <p:nvPr/>
        </p:nvSpPr>
        <p:spPr>
          <a:xfrm>
            <a:off x="8074152" y="5093208"/>
            <a:ext cx="2926080" cy="320040"/>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giết_sâu_bọ</a:t>
            </a:r>
            <a:endParaRPr lang="en-US" sz="1400" dirty="0"/>
          </a:p>
        </p:txBody>
      </p:sp>
      <p:sp>
        <p:nvSpPr>
          <p:cNvPr id="36" name="Text 34"/>
          <p:cNvSpPr/>
          <p:nvPr/>
        </p:nvSpPr>
        <p:spPr>
          <a:xfrm>
            <a:off x="6245352" y="5458968"/>
            <a:ext cx="47548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phân biệt nông nghiệp vs bạo lực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8412480"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KHVGuard: Kiến trúc &amp; luồng xử lý</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Giải pháp</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868680"/>
            <a:ext cx="2011680" cy="384048"/>
          </a:xfrm>
          <a:prstGeom prst="roundRect">
            <a:avLst/>
          </a:prstGeom>
          <a:solidFill>
            <a:srgbClr val="27AE60"/>
          </a:solidFill>
          <a:ln w="12700">
            <a:solidFill>
              <a:srgbClr val="27AE60"/>
            </a:solidFill>
            <a:prstDash val="solid"/>
          </a:ln>
        </p:spPr>
        <p:txBody>
          <a:bodyPr/>
          <a:lstStyle/>
          <a:p>
            <a:endParaRPr lang="vi-VN" sz="2400"/>
          </a:p>
        </p:txBody>
      </p:sp>
      <p:sp>
        <p:nvSpPr>
          <p:cNvPr id="7" name="Text 5"/>
          <p:cNvSpPr/>
          <p:nvPr/>
        </p:nvSpPr>
        <p:spPr>
          <a:xfrm>
            <a:off x="594360" y="897665"/>
            <a:ext cx="201168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Giải pháp</a:t>
            </a:r>
            <a:endParaRPr lang="en-US" sz="2400" dirty="0"/>
          </a:p>
        </p:txBody>
      </p:sp>
      <p:sp>
        <p:nvSpPr>
          <p:cNvPr id="8" name="Shape 6"/>
          <p:cNvSpPr/>
          <p:nvPr/>
        </p:nvSpPr>
        <p:spPr>
          <a:xfrm>
            <a:off x="658368" y="1417320"/>
            <a:ext cx="2514600" cy="1143000"/>
          </a:xfrm>
          <a:prstGeom prst="roundRect">
            <a:avLst/>
          </a:prstGeom>
          <a:solidFill>
            <a:srgbClr val="E0F2FE"/>
          </a:solidFill>
          <a:ln w="12700">
            <a:solidFill>
              <a:srgbClr val="7DD3FC"/>
            </a:solidFill>
            <a:prstDash val="solid"/>
          </a:ln>
          <a:effectLst>
            <a:outerShdw blurRad="31750" dist="12700" dir="2700000" algn="bl" rotWithShape="0">
              <a:srgbClr val="000000">
                <a:alpha val="10000"/>
              </a:srgbClr>
            </a:outerShdw>
          </a:effectLst>
        </p:spPr>
        <p:txBody>
          <a:bodyPr/>
          <a:lstStyle/>
          <a:p>
            <a:endParaRPr lang="vi-VN"/>
          </a:p>
        </p:txBody>
      </p:sp>
      <p:sp>
        <p:nvSpPr>
          <p:cNvPr id="9" name="Text 7"/>
          <p:cNvSpPr/>
          <p:nvPr/>
        </p:nvSpPr>
        <p:spPr>
          <a:xfrm>
            <a:off x="841248" y="1609344"/>
            <a:ext cx="23317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Input prompt</a:t>
            </a:r>
            <a:endParaRPr lang="en-US" sz="2000" dirty="0"/>
          </a:p>
        </p:txBody>
      </p:sp>
      <p:sp>
        <p:nvSpPr>
          <p:cNvPr id="10" name="Text 8"/>
          <p:cNvSpPr/>
          <p:nvPr/>
        </p:nvSpPr>
        <p:spPr>
          <a:xfrm>
            <a:off x="841248" y="1947672"/>
            <a:ext cx="2148840" cy="5029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Tiếng Việt (có từ nhạy cảm)</a:t>
            </a:r>
            <a:endParaRPr lang="en-US" sz="1600" dirty="0"/>
          </a:p>
        </p:txBody>
      </p:sp>
      <p:sp>
        <p:nvSpPr>
          <p:cNvPr id="11" name="Shape 9"/>
          <p:cNvSpPr/>
          <p:nvPr/>
        </p:nvSpPr>
        <p:spPr>
          <a:xfrm>
            <a:off x="3218687" y="2016252"/>
            <a:ext cx="248055" cy="0"/>
          </a:xfrm>
          <a:prstGeom prst="line">
            <a:avLst/>
          </a:prstGeom>
          <a:noFill/>
          <a:ln w="12700">
            <a:solidFill>
              <a:srgbClr val="6B7280"/>
            </a:solidFill>
            <a:prstDash val="solid"/>
            <a:headEnd type="none"/>
            <a:tailEnd type="triangle"/>
          </a:ln>
        </p:spPr>
        <p:txBody>
          <a:bodyPr/>
          <a:lstStyle/>
          <a:p>
            <a:endParaRPr lang="vi-VN" sz="4000"/>
          </a:p>
        </p:txBody>
      </p:sp>
      <p:sp>
        <p:nvSpPr>
          <p:cNvPr id="12" name="Shape 10"/>
          <p:cNvSpPr/>
          <p:nvPr/>
        </p:nvSpPr>
        <p:spPr>
          <a:xfrm>
            <a:off x="3493008" y="1417320"/>
            <a:ext cx="2514600" cy="1143000"/>
          </a:xfrm>
          <a:prstGeom prst="roundRect">
            <a:avLst/>
          </a:prstGeom>
          <a:solidFill>
            <a:srgbClr val="F3F4F6"/>
          </a:solidFill>
          <a:ln w="12700">
            <a:solidFill>
              <a:srgbClr val="CBD5E1"/>
            </a:solidFill>
            <a:prstDash val="solid"/>
          </a:ln>
          <a:effectLst>
            <a:outerShdw blurRad="31750" dist="12700" dir="2700000" algn="bl" rotWithShape="0">
              <a:srgbClr val="000000">
                <a:alpha val="10000"/>
              </a:srgbClr>
            </a:outerShdw>
          </a:effectLst>
        </p:spPr>
        <p:txBody>
          <a:bodyPr/>
          <a:lstStyle/>
          <a:p>
            <a:endParaRPr lang="vi-VN"/>
          </a:p>
        </p:txBody>
      </p:sp>
      <p:sp>
        <p:nvSpPr>
          <p:cNvPr id="13" name="Text 11"/>
          <p:cNvSpPr/>
          <p:nvPr/>
        </p:nvSpPr>
        <p:spPr>
          <a:xfrm>
            <a:off x="3675888" y="1609344"/>
            <a:ext cx="23317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Word segmentation</a:t>
            </a:r>
            <a:endParaRPr lang="en-US" sz="2000" dirty="0"/>
          </a:p>
        </p:txBody>
      </p:sp>
      <p:sp>
        <p:nvSpPr>
          <p:cNvPr id="14" name="Text 12"/>
          <p:cNvSpPr/>
          <p:nvPr/>
        </p:nvSpPr>
        <p:spPr>
          <a:xfrm>
            <a:off x="3675888" y="1947672"/>
            <a:ext cx="2148840" cy="5029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giữ cụm: diệt_virus</a:t>
            </a:r>
            <a:endParaRPr lang="en-US" sz="1600" dirty="0"/>
          </a:p>
        </p:txBody>
      </p:sp>
      <p:sp>
        <p:nvSpPr>
          <p:cNvPr id="15" name="Shape 13"/>
          <p:cNvSpPr/>
          <p:nvPr/>
        </p:nvSpPr>
        <p:spPr>
          <a:xfrm>
            <a:off x="6053327" y="2016252"/>
            <a:ext cx="248055" cy="0"/>
          </a:xfrm>
          <a:prstGeom prst="line">
            <a:avLst/>
          </a:prstGeom>
          <a:noFill/>
          <a:ln w="12700">
            <a:solidFill>
              <a:srgbClr val="6B7280"/>
            </a:solidFill>
            <a:prstDash val="solid"/>
            <a:headEnd type="none"/>
            <a:tailEnd type="triangle"/>
          </a:ln>
        </p:spPr>
        <p:txBody>
          <a:bodyPr/>
          <a:lstStyle/>
          <a:p>
            <a:endParaRPr lang="vi-VN" sz="4000"/>
          </a:p>
        </p:txBody>
      </p:sp>
      <p:sp>
        <p:nvSpPr>
          <p:cNvPr id="16" name="Shape 14"/>
          <p:cNvSpPr/>
          <p:nvPr/>
        </p:nvSpPr>
        <p:spPr>
          <a:xfrm>
            <a:off x="6327648" y="1417320"/>
            <a:ext cx="2514600" cy="1143000"/>
          </a:xfrm>
          <a:prstGeom prst="roundRect">
            <a:avLst/>
          </a:prstGeom>
          <a:solidFill>
            <a:srgbClr val="DCFCE7"/>
          </a:solidFill>
          <a:ln w="12700">
            <a:solidFill>
              <a:srgbClr val="86EFAC"/>
            </a:solidFill>
            <a:prstDash val="solid"/>
          </a:ln>
          <a:effectLst>
            <a:outerShdw blurRad="31750" dist="12700" dir="2700000" algn="bl" rotWithShape="0">
              <a:srgbClr val="000000">
                <a:alpha val="10000"/>
              </a:srgbClr>
            </a:outerShdw>
          </a:effectLst>
        </p:spPr>
        <p:txBody>
          <a:bodyPr/>
          <a:lstStyle/>
          <a:p>
            <a:endParaRPr lang="vi-VN"/>
          </a:p>
        </p:txBody>
      </p:sp>
      <p:sp>
        <p:nvSpPr>
          <p:cNvPr id="17" name="Text 15"/>
          <p:cNvSpPr/>
          <p:nvPr/>
        </p:nvSpPr>
        <p:spPr>
          <a:xfrm>
            <a:off x="6510528" y="1609344"/>
            <a:ext cx="23317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PhoBERT encoder</a:t>
            </a:r>
            <a:endParaRPr lang="en-US" sz="2000" dirty="0"/>
          </a:p>
        </p:txBody>
      </p:sp>
      <p:sp>
        <p:nvSpPr>
          <p:cNvPr id="18" name="Text 16"/>
          <p:cNvSpPr/>
          <p:nvPr/>
        </p:nvSpPr>
        <p:spPr>
          <a:xfrm>
            <a:off x="6510528" y="1947672"/>
            <a:ext cx="2148840" cy="5029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biểu diễn ngữ cảnh</a:t>
            </a:r>
            <a:endParaRPr lang="en-US" sz="1600" dirty="0"/>
          </a:p>
        </p:txBody>
      </p:sp>
      <p:sp>
        <p:nvSpPr>
          <p:cNvPr id="19" name="Shape 17"/>
          <p:cNvSpPr/>
          <p:nvPr/>
        </p:nvSpPr>
        <p:spPr>
          <a:xfrm>
            <a:off x="8887967" y="2016252"/>
            <a:ext cx="248055" cy="0"/>
          </a:xfrm>
          <a:prstGeom prst="line">
            <a:avLst/>
          </a:prstGeom>
          <a:noFill/>
          <a:ln w="12700">
            <a:solidFill>
              <a:srgbClr val="6B7280"/>
            </a:solidFill>
            <a:prstDash val="solid"/>
            <a:headEnd type="none"/>
            <a:tailEnd type="triangle"/>
          </a:ln>
        </p:spPr>
        <p:txBody>
          <a:bodyPr/>
          <a:lstStyle/>
          <a:p>
            <a:endParaRPr lang="vi-VN" sz="4000"/>
          </a:p>
        </p:txBody>
      </p:sp>
      <p:sp>
        <p:nvSpPr>
          <p:cNvPr id="20" name="Shape 18"/>
          <p:cNvSpPr/>
          <p:nvPr/>
        </p:nvSpPr>
        <p:spPr>
          <a:xfrm>
            <a:off x="9162288" y="1417320"/>
            <a:ext cx="2514600" cy="1143000"/>
          </a:xfrm>
          <a:prstGeom prst="roundRect">
            <a:avLst/>
          </a:prstGeom>
          <a:solidFill>
            <a:srgbClr val="FEF3C7"/>
          </a:solidFill>
          <a:ln w="12700">
            <a:solidFill>
              <a:srgbClr val="FCD34D"/>
            </a:solidFill>
            <a:prstDash val="solid"/>
          </a:ln>
          <a:effectLst>
            <a:outerShdw blurRad="31750" dist="12700" dir="2700000" algn="bl" rotWithShape="0">
              <a:srgbClr val="000000">
                <a:alpha val="10000"/>
              </a:srgbClr>
            </a:outerShdw>
          </a:effectLst>
        </p:spPr>
        <p:txBody>
          <a:bodyPr/>
          <a:lstStyle/>
          <a:p>
            <a:endParaRPr lang="vi-VN"/>
          </a:p>
        </p:txBody>
      </p:sp>
      <p:sp>
        <p:nvSpPr>
          <p:cNvPr id="21" name="Text 19"/>
          <p:cNvSpPr/>
          <p:nvPr/>
        </p:nvSpPr>
        <p:spPr>
          <a:xfrm>
            <a:off x="9345168" y="1609344"/>
            <a:ext cx="23317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Classifier</a:t>
            </a:r>
            <a:endParaRPr lang="en-US" sz="2000" dirty="0"/>
          </a:p>
        </p:txBody>
      </p:sp>
      <p:sp>
        <p:nvSpPr>
          <p:cNvPr id="22" name="Text 20"/>
          <p:cNvSpPr/>
          <p:nvPr/>
        </p:nvSpPr>
        <p:spPr>
          <a:xfrm>
            <a:off x="9345168" y="1947672"/>
            <a:ext cx="2148840" cy="5029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Benign / Attack</a:t>
            </a:r>
            <a:endParaRPr lang="en-US" sz="1600" dirty="0"/>
          </a:p>
        </p:txBody>
      </p:sp>
      <p:sp>
        <p:nvSpPr>
          <p:cNvPr id="23" name="Shape 21"/>
          <p:cNvSpPr/>
          <p:nvPr/>
        </p:nvSpPr>
        <p:spPr>
          <a:xfrm>
            <a:off x="594360" y="2926080"/>
            <a:ext cx="11000232" cy="3291840"/>
          </a:xfrm>
          <a:prstGeom prst="roundRect">
            <a:avLst/>
          </a:prstGeom>
          <a:solidFill>
            <a:srgbClr val="FFFFFF"/>
          </a:solidFill>
          <a:ln w="12700">
            <a:solidFill>
              <a:srgbClr val="CBD5E1"/>
            </a:solidFill>
            <a:prstDash val="solid"/>
          </a:ln>
        </p:spPr>
        <p:txBody>
          <a:bodyPr/>
          <a:lstStyle/>
          <a:p>
            <a:endParaRPr lang="vi-VN"/>
          </a:p>
        </p:txBody>
      </p:sp>
      <p:sp>
        <p:nvSpPr>
          <p:cNvPr id="24" name="Text 22"/>
          <p:cNvSpPr/>
          <p:nvPr/>
        </p:nvSpPr>
        <p:spPr>
          <a:xfrm>
            <a:off x="868680" y="3108960"/>
            <a:ext cx="10515600" cy="320040"/>
          </a:xfrm>
          <a:prstGeom prst="rect">
            <a:avLst/>
          </a:prstGeom>
          <a:noFill/>
          <a:ln/>
        </p:spPr>
        <p:txBody>
          <a:bodyPr wrap="square" rtlCol="0" anchor="ctr"/>
          <a:lstStyle/>
          <a:p>
            <a:pPr marL="0" indent="0">
              <a:buNone/>
            </a:pPr>
            <a:r>
              <a:rPr lang="en-US" sz="2800" b="1" dirty="0">
                <a:solidFill>
                  <a:srgbClr val="111827"/>
                </a:solidFill>
                <a:latin typeface="Calibri" pitchFamily="34" charset="0"/>
                <a:ea typeface="Calibri" pitchFamily="34" charset="-122"/>
                <a:cs typeface="Calibri" pitchFamily="34" charset="-120"/>
              </a:rPr>
              <a:t>Điểm thiết kế tạo khác biệt (insight)</a:t>
            </a:r>
            <a:endParaRPr lang="en-US" sz="2800" dirty="0"/>
          </a:p>
        </p:txBody>
      </p:sp>
      <p:sp>
        <p:nvSpPr>
          <p:cNvPr id="25" name="Text 23"/>
          <p:cNvSpPr/>
          <p:nvPr/>
        </p:nvSpPr>
        <p:spPr>
          <a:xfrm>
            <a:off x="1005840" y="3566160"/>
            <a:ext cx="5212080" cy="2468880"/>
          </a:xfrm>
          <a:prstGeom prst="rect">
            <a:avLst/>
          </a:prstGeom>
          <a:noFill/>
          <a:ln/>
        </p:spPr>
        <p:txBody>
          <a:bodyPr wrap="square" rtlCol="0" anchor="ctr"/>
          <a:lstStyle/>
          <a:p>
            <a:pPr marL="228600" indent="-228600">
              <a:lnSpc>
                <a:spcPct val="115000"/>
              </a:lnSpc>
              <a:buSzPct val="100000"/>
              <a:buChar char="•"/>
            </a:pPr>
            <a:r>
              <a:rPr lang="en-US" sz="2000" dirty="0">
                <a:solidFill>
                  <a:srgbClr val="374151"/>
                </a:solidFill>
                <a:latin typeface="Calibri" pitchFamily="34" charset="0"/>
                <a:ea typeface="Calibri" pitchFamily="34" charset="-122"/>
                <a:cs typeface="Calibri" pitchFamily="34" charset="-120"/>
              </a:rPr>
              <a:t>Backbone: vinai/phobert-base-v2</a:t>
            </a:r>
            <a:endParaRPr lang="en-US" sz="2000" dirty="0"/>
          </a:p>
          <a:p>
            <a:pPr marL="228600" indent="-228600">
              <a:lnSpc>
                <a:spcPct val="115000"/>
              </a:lnSpc>
              <a:buSzPct val="100000"/>
              <a:buChar char="•"/>
            </a:pPr>
            <a:r>
              <a:rPr lang="en-US" sz="2000" dirty="0">
                <a:solidFill>
                  <a:srgbClr val="374151"/>
                </a:solidFill>
                <a:latin typeface="Calibri" pitchFamily="34" charset="0"/>
                <a:ea typeface="Calibri" pitchFamily="34" charset="-122"/>
                <a:cs typeface="Calibri" pitchFamily="34" charset="-120"/>
              </a:rPr>
              <a:t>Token hóa nhận thức ngữ cảnh: word segmentation + nối _</a:t>
            </a:r>
            <a:endParaRPr lang="en-US" sz="2000" dirty="0"/>
          </a:p>
          <a:p>
            <a:pPr marL="228600" indent="-228600">
              <a:lnSpc>
                <a:spcPct val="115000"/>
              </a:lnSpc>
              <a:buSzPct val="100000"/>
              <a:buChar char="•"/>
            </a:pPr>
            <a:r>
              <a:rPr lang="en-US" sz="2000" dirty="0">
                <a:solidFill>
                  <a:srgbClr val="374151"/>
                </a:solidFill>
                <a:latin typeface="Calibri" pitchFamily="34" charset="0"/>
                <a:ea typeface="Calibri" pitchFamily="34" charset="-122"/>
                <a:cs typeface="Calibri" pitchFamily="34" charset="-120"/>
              </a:rPr>
              <a:t>Giữ cân bằng: </a:t>
            </a:r>
            <a:r>
              <a:rPr lang="en-US" sz="2000" dirty="0" err="1">
                <a:solidFill>
                  <a:srgbClr val="374151"/>
                </a:solidFill>
                <a:latin typeface="Calibri" pitchFamily="34" charset="0"/>
                <a:ea typeface="Calibri" pitchFamily="34" charset="-122"/>
                <a:cs typeface="Calibri" pitchFamily="34" charset="-120"/>
              </a:rPr>
              <a:t>giảm</a:t>
            </a:r>
            <a:r>
              <a:rPr lang="en-US" sz="2000" dirty="0">
                <a:solidFill>
                  <a:srgbClr val="374151"/>
                </a:solidFill>
                <a:latin typeface="Calibri" pitchFamily="34" charset="0"/>
                <a:ea typeface="Calibri" pitchFamily="34" charset="-122"/>
                <a:cs typeface="Calibri" pitchFamily="34" charset="-120"/>
              </a:rPr>
              <a:t> </a:t>
            </a:r>
            <a:r>
              <a:rPr lang="vi-VN" sz="2000" dirty="0">
                <a:solidFill>
                  <a:srgbClr val="374151"/>
                </a:solidFill>
                <a:latin typeface="Calibri" pitchFamily="34" charset="0"/>
                <a:ea typeface="Calibri" pitchFamily="34" charset="-122"/>
                <a:cs typeface="Calibri" pitchFamily="34" charset="-120"/>
              </a:rPr>
              <a:t>tỷ lệ số prompt lành tính bị chặn nhầm</a:t>
            </a:r>
            <a:endParaRPr lang="en-US" sz="2000" dirty="0"/>
          </a:p>
        </p:txBody>
      </p:sp>
      <p:sp>
        <p:nvSpPr>
          <p:cNvPr id="26" name="Text 24"/>
          <p:cNvSpPr/>
          <p:nvPr/>
        </p:nvSpPr>
        <p:spPr>
          <a:xfrm>
            <a:off x="6464808" y="3500167"/>
            <a:ext cx="5029200" cy="2468880"/>
          </a:xfrm>
          <a:prstGeom prst="rect">
            <a:avLst/>
          </a:prstGeom>
          <a:noFill/>
          <a:ln/>
        </p:spPr>
        <p:txBody>
          <a:bodyPr wrap="square" rtlCol="0" anchor="ctr"/>
          <a:lstStyle/>
          <a:p>
            <a:pPr marL="228600" indent="-228600">
              <a:lnSpc>
                <a:spcPct val="115000"/>
              </a:lnSpc>
              <a:buSzPct val="100000"/>
              <a:buChar char="•"/>
            </a:pPr>
            <a:r>
              <a:rPr lang="vi-VN" sz="2000" dirty="0">
                <a:solidFill>
                  <a:srgbClr val="374151"/>
                </a:solidFill>
                <a:latin typeface="Calibri" pitchFamily="34" charset="0"/>
                <a:ea typeface="Calibri" pitchFamily="34" charset="-122"/>
                <a:cs typeface="Calibri" pitchFamily="34" charset="-120"/>
              </a:rPr>
              <a:t>Bộ dữ liệu đánh giá phòng thủ dành riêng </a:t>
            </a:r>
            <a:r>
              <a:rPr lang="en-US" sz="2000" dirty="0" err="1">
                <a:solidFill>
                  <a:srgbClr val="374151"/>
                </a:solidFill>
                <a:latin typeface="Calibri" pitchFamily="34" charset="0"/>
                <a:ea typeface="Calibri" pitchFamily="34" charset="-122"/>
                <a:cs typeface="Calibri" pitchFamily="34" charset="-120"/>
              </a:rPr>
              <a:t>cho</a:t>
            </a:r>
            <a:r>
              <a:rPr lang="en-US" sz="2000" dirty="0">
                <a:solidFill>
                  <a:srgbClr val="374151"/>
                </a:solidFill>
                <a:latin typeface="Calibri" pitchFamily="34" charset="0"/>
                <a:ea typeface="Calibri" pitchFamily="34" charset="-122"/>
                <a:cs typeface="Calibri" pitchFamily="34" charset="-120"/>
              </a:rPr>
              <a:t> tiếng Việt (V-NotInject)</a:t>
            </a:r>
            <a:endParaRPr lang="en-US" sz="2000" dirty="0"/>
          </a:p>
          <a:p>
            <a:pPr marL="228600" indent="-228600">
              <a:lnSpc>
                <a:spcPct val="115000"/>
              </a:lnSpc>
              <a:buSzPct val="100000"/>
              <a:buChar char="•"/>
            </a:pPr>
            <a:r>
              <a:rPr lang="en-US" sz="2000" dirty="0">
                <a:solidFill>
                  <a:srgbClr val="374151"/>
                </a:solidFill>
                <a:latin typeface="Calibri" pitchFamily="34" charset="0"/>
                <a:ea typeface="Calibri" pitchFamily="34" charset="-122"/>
                <a:cs typeface="Calibri" pitchFamily="34" charset="-120"/>
              </a:rPr>
              <a:t>Huấn luyện theo MOF để giảm phụ thuộc trigger words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10464704"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V-NotInject: Bộ dữ liệu đánh </a:t>
            </a:r>
            <a:r>
              <a:rPr lang="en-US" sz="3200" b="1" dirty="0" err="1">
                <a:solidFill>
                  <a:srgbClr val="FFFFFF"/>
                </a:solidFill>
                <a:latin typeface="Calibri" pitchFamily="34" charset="0"/>
                <a:ea typeface="Calibri" pitchFamily="34" charset="-122"/>
                <a:cs typeface="Calibri" pitchFamily="34" charset="-120"/>
              </a:rPr>
              <a:t>giá</a:t>
            </a:r>
            <a:r>
              <a:rPr lang="en-US" sz="3200" b="1" dirty="0">
                <a:solidFill>
                  <a:srgbClr val="FFFFFF"/>
                </a:solidFill>
                <a:latin typeface="Calibri" pitchFamily="34" charset="0"/>
                <a:ea typeface="Calibri" pitchFamily="34" charset="-122"/>
                <a:cs typeface="Calibri" pitchFamily="34" charset="-120"/>
              </a:rPr>
              <a:t> </a:t>
            </a:r>
            <a:r>
              <a:rPr lang="vi-VN" sz="3200" b="1" dirty="0">
                <a:solidFill>
                  <a:srgbClr val="FFFFFF"/>
                </a:solidFill>
                <a:latin typeface="Calibri" pitchFamily="34" charset="0"/>
                <a:ea typeface="Calibri" pitchFamily="34" charset="-122"/>
                <a:cs typeface="Calibri" pitchFamily="34" charset="-120"/>
              </a:rPr>
              <a:t>phòng thủ</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cho</a:t>
            </a:r>
            <a:r>
              <a:rPr lang="en-US" sz="3200" b="1" dirty="0">
                <a:solidFill>
                  <a:srgbClr val="FFFFFF"/>
                </a:solidFill>
                <a:latin typeface="Calibri" pitchFamily="34" charset="0"/>
                <a:ea typeface="Calibri" pitchFamily="34" charset="-122"/>
                <a:cs typeface="Calibri" pitchFamily="34" charset="-120"/>
              </a:rPr>
              <a:t> tiếng Việt</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Dữ liệu</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868680"/>
            <a:ext cx="2011680" cy="384048"/>
          </a:xfrm>
          <a:prstGeom prst="roundRect">
            <a:avLst/>
          </a:prstGeom>
          <a:solidFill>
            <a:srgbClr val="2F80ED"/>
          </a:solidFill>
          <a:ln w="12700">
            <a:solidFill>
              <a:srgbClr val="2F80ED"/>
            </a:solidFill>
            <a:prstDash val="solid"/>
          </a:ln>
        </p:spPr>
        <p:txBody>
          <a:bodyPr/>
          <a:lstStyle/>
          <a:p>
            <a:endParaRPr lang="vi-VN" sz="3600"/>
          </a:p>
        </p:txBody>
      </p:sp>
      <p:sp>
        <p:nvSpPr>
          <p:cNvPr id="7" name="Text 5"/>
          <p:cNvSpPr/>
          <p:nvPr/>
        </p:nvSpPr>
        <p:spPr>
          <a:xfrm>
            <a:off x="594360" y="897147"/>
            <a:ext cx="201168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Dữ liệu</a:t>
            </a:r>
            <a:endParaRPr lang="en-US" sz="2400" dirty="0"/>
          </a:p>
        </p:txBody>
      </p:sp>
      <p:sp>
        <p:nvSpPr>
          <p:cNvPr id="8" name="Shape 6"/>
          <p:cNvSpPr/>
          <p:nvPr/>
        </p:nvSpPr>
        <p:spPr>
          <a:xfrm>
            <a:off x="594360" y="1325880"/>
            <a:ext cx="292608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9" name="Text 7"/>
          <p:cNvSpPr/>
          <p:nvPr/>
        </p:nvSpPr>
        <p:spPr>
          <a:xfrm>
            <a:off x="822960" y="1490472"/>
            <a:ext cx="2468880"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Quy mô</a:t>
            </a:r>
            <a:endParaRPr lang="en-US" sz="2000" dirty="0"/>
          </a:p>
        </p:txBody>
      </p:sp>
      <p:sp>
        <p:nvSpPr>
          <p:cNvPr id="10" name="Text 8"/>
          <p:cNvSpPr/>
          <p:nvPr/>
        </p:nvSpPr>
        <p:spPr>
          <a:xfrm>
            <a:off x="822960" y="1737360"/>
            <a:ext cx="2468880" cy="640080"/>
          </a:xfrm>
          <a:prstGeom prst="rect">
            <a:avLst/>
          </a:prstGeom>
          <a:noFill/>
          <a:ln/>
        </p:spPr>
        <p:txBody>
          <a:bodyPr wrap="square" rtlCol="0" anchor="ctr"/>
          <a:lstStyle/>
          <a:p>
            <a:pPr marL="0" indent="0">
              <a:buNone/>
            </a:pPr>
            <a:r>
              <a:rPr lang="en-US" sz="3600" b="1" dirty="0">
                <a:solidFill>
                  <a:srgbClr val="2F80ED"/>
                </a:solidFill>
                <a:latin typeface="Calibri" pitchFamily="34" charset="0"/>
                <a:ea typeface="Calibri" pitchFamily="34" charset="-122"/>
                <a:cs typeface="Calibri" pitchFamily="34" charset="-120"/>
              </a:rPr>
              <a:t>1,000</a:t>
            </a:r>
            <a:endParaRPr lang="en-US" sz="3600" dirty="0"/>
          </a:p>
        </p:txBody>
      </p:sp>
      <p:sp>
        <p:nvSpPr>
          <p:cNvPr id="11" name="Text 9"/>
          <p:cNvSpPr/>
          <p:nvPr/>
        </p:nvSpPr>
        <p:spPr>
          <a:xfrm>
            <a:off x="822960" y="2377440"/>
            <a:ext cx="2468880" cy="2743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585 Benign • 415 Attack</a:t>
            </a:r>
            <a:endParaRPr lang="en-US" sz="1600" dirty="0"/>
          </a:p>
        </p:txBody>
      </p:sp>
      <p:sp>
        <p:nvSpPr>
          <p:cNvPr id="12" name="Shape 10"/>
          <p:cNvSpPr/>
          <p:nvPr/>
        </p:nvSpPr>
        <p:spPr>
          <a:xfrm>
            <a:off x="3639312" y="1325880"/>
            <a:ext cx="292608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3" name="Text 11"/>
          <p:cNvSpPr/>
          <p:nvPr/>
        </p:nvSpPr>
        <p:spPr>
          <a:xfrm>
            <a:off x="3867912" y="1490472"/>
            <a:ext cx="2468880"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Chia tách</a:t>
            </a:r>
            <a:endParaRPr lang="en-US" sz="2000" dirty="0"/>
          </a:p>
        </p:txBody>
      </p:sp>
      <p:sp>
        <p:nvSpPr>
          <p:cNvPr id="14" name="Text 12"/>
          <p:cNvSpPr/>
          <p:nvPr/>
        </p:nvSpPr>
        <p:spPr>
          <a:xfrm>
            <a:off x="3867912" y="1737360"/>
            <a:ext cx="2468880" cy="640080"/>
          </a:xfrm>
          <a:prstGeom prst="rect">
            <a:avLst/>
          </a:prstGeom>
          <a:noFill/>
          <a:ln/>
        </p:spPr>
        <p:txBody>
          <a:bodyPr wrap="square" rtlCol="0" anchor="ctr"/>
          <a:lstStyle/>
          <a:p>
            <a:pPr marL="0" indent="0">
              <a:buNone/>
            </a:pPr>
            <a:r>
              <a:rPr lang="en-US" sz="3600" b="1" dirty="0">
                <a:solidFill>
                  <a:srgbClr val="F2994A"/>
                </a:solidFill>
                <a:latin typeface="Calibri" pitchFamily="34" charset="0"/>
                <a:ea typeface="Calibri" pitchFamily="34" charset="-122"/>
                <a:cs typeface="Calibri" pitchFamily="34" charset="-120"/>
              </a:rPr>
              <a:t>70/30</a:t>
            </a:r>
            <a:endParaRPr lang="en-US" sz="3600" dirty="0"/>
          </a:p>
        </p:txBody>
      </p:sp>
      <p:sp>
        <p:nvSpPr>
          <p:cNvPr id="15" name="Text 13"/>
          <p:cNvSpPr/>
          <p:nvPr/>
        </p:nvSpPr>
        <p:spPr>
          <a:xfrm>
            <a:off x="3867912" y="2377440"/>
            <a:ext cx="2468880" cy="2743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700 Train • 300 Test</a:t>
            </a:r>
            <a:endParaRPr lang="en-US" sz="1600" dirty="0"/>
          </a:p>
        </p:txBody>
      </p:sp>
      <p:sp>
        <p:nvSpPr>
          <p:cNvPr id="16" name="Shape 14"/>
          <p:cNvSpPr/>
          <p:nvPr/>
        </p:nvSpPr>
        <p:spPr>
          <a:xfrm>
            <a:off x="6684264" y="1325880"/>
            <a:ext cx="4910328"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7" name="Text 15"/>
          <p:cNvSpPr/>
          <p:nvPr/>
        </p:nvSpPr>
        <p:spPr>
          <a:xfrm>
            <a:off x="6912864" y="1490472"/>
            <a:ext cx="4453128"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Mục tiêu</a:t>
            </a:r>
            <a:endParaRPr lang="en-US" sz="2000" dirty="0"/>
          </a:p>
        </p:txBody>
      </p:sp>
      <p:sp>
        <p:nvSpPr>
          <p:cNvPr id="18" name="Text 16"/>
          <p:cNvSpPr/>
          <p:nvPr/>
        </p:nvSpPr>
        <p:spPr>
          <a:xfrm>
            <a:off x="6912864" y="1737360"/>
            <a:ext cx="4453128" cy="640080"/>
          </a:xfrm>
          <a:prstGeom prst="rect">
            <a:avLst/>
          </a:prstGeom>
          <a:noFill/>
          <a:ln/>
        </p:spPr>
        <p:txBody>
          <a:bodyPr wrap="square" rtlCol="0" anchor="ctr"/>
          <a:lstStyle/>
          <a:p>
            <a:pPr marL="0" indent="0">
              <a:buNone/>
            </a:pPr>
            <a:r>
              <a:rPr lang="en-US" sz="3600" b="1" dirty="0">
                <a:solidFill>
                  <a:srgbClr val="27AE60"/>
                </a:solidFill>
                <a:latin typeface="Calibri" pitchFamily="34" charset="0"/>
                <a:ea typeface="Calibri" pitchFamily="34" charset="-122"/>
                <a:cs typeface="Calibri" pitchFamily="34" charset="-120"/>
              </a:rPr>
              <a:t>Hard negatives</a:t>
            </a:r>
            <a:endParaRPr lang="en-US" sz="3600" dirty="0"/>
          </a:p>
        </p:txBody>
      </p:sp>
      <p:sp>
        <p:nvSpPr>
          <p:cNvPr id="19" name="Text 17"/>
          <p:cNvSpPr/>
          <p:nvPr/>
        </p:nvSpPr>
        <p:spPr>
          <a:xfrm>
            <a:off x="6912864" y="2377440"/>
            <a:ext cx="4453128" cy="2743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Benign chứa trigger words để đo chặn nhầm</a:t>
            </a:r>
            <a:endParaRPr lang="en-US" sz="1600" dirty="0"/>
          </a:p>
        </p:txBody>
      </p:sp>
      <p:sp>
        <p:nvSpPr>
          <p:cNvPr id="20" name="Shape 18"/>
          <p:cNvSpPr/>
          <p:nvPr/>
        </p:nvSpPr>
        <p:spPr>
          <a:xfrm>
            <a:off x="594360" y="2850685"/>
            <a:ext cx="11000232" cy="505163"/>
          </a:xfrm>
          <a:prstGeom prst="roundRect">
            <a:avLst/>
          </a:prstGeom>
          <a:solidFill>
            <a:srgbClr val="FFFFFF"/>
          </a:solidFill>
          <a:ln w="12700">
            <a:solidFill>
              <a:srgbClr val="CBD5E1"/>
            </a:solidFill>
            <a:prstDash val="solid"/>
          </a:ln>
        </p:spPr>
        <p:txBody>
          <a:bodyPr/>
          <a:lstStyle/>
          <a:p>
            <a:endParaRPr lang="vi-VN" dirty="0"/>
          </a:p>
        </p:txBody>
      </p:sp>
      <p:sp>
        <p:nvSpPr>
          <p:cNvPr id="21" name="Text 19"/>
          <p:cNvSpPr/>
          <p:nvPr/>
        </p:nvSpPr>
        <p:spPr>
          <a:xfrm>
            <a:off x="745322" y="3118190"/>
            <a:ext cx="9810822" cy="320040"/>
          </a:xfrm>
          <a:prstGeom prst="rect">
            <a:avLst/>
          </a:prstGeom>
          <a:noFill/>
          <a:ln/>
        </p:spPr>
        <p:txBody>
          <a:bodyPr wrap="square" rtlCol="0" anchor="ctr"/>
          <a:lstStyle/>
          <a:p>
            <a:r>
              <a:rPr lang="vi-VN" sz="2400" b="1" dirty="0">
                <a:solidFill>
                  <a:srgbClr val="111827"/>
                </a:solidFill>
                <a:latin typeface="Calibri" pitchFamily="34" charset="0"/>
                <a:ea typeface="Calibri" pitchFamily="34" charset="-122"/>
                <a:cs typeface="Calibri" pitchFamily="34" charset="-120"/>
              </a:rPr>
              <a:t>Một số trigger word điể</a:t>
            </a:r>
            <a:r>
              <a:rPr lang="en-US" sz="2400" b="1" dirty="0">
                <a:solidFill>
                  <a:srgbClr val="111827"/>
                </a:solidFill>
                <a:latin typeface="Calibri" pitchFamily="34" charset="0"/>
                <a:ea typeface="Calibri" pitchFamily="34" charset="-122"/>
                <a:cs typeface="Calibri" pitchFamily="34" charset="-120"/>
              </a:rPr>
              <a:t>n </a:t>
            </a:r>
            <a:r>
              <a:rPr lang="vi-VN" sz="2400" b="1" dirty="0">
                <a:solidFill>
                  <a:srgbClr val="111827"/>
                </a:solidFill>
                <a:latin typeface="Calibri" pitchFamily="34" charset="0"/>
                <a:ea typeface="Calibri" pitchFamily="34" charset="-122"/>
                <a:cs typeface="Calibri" pitchFamily="34" charset="-120"/>
              </a:rPr>
              <a:t>hình</a:t>
            </a:r>
            <a:r>
              <a:rPr lang="en-US" sz="2400" b="1" dirty="0">
                <a:solidFill>
                  <a:srgbClr val="111827"/>
                </a:solidFill>
                <a:latin typeface="Calibri" pitchFamily="34" charset="0"/>
                <a:ea typeface="Calibri" pitchFamily="34" charset="-122"/>
                <a:cs typeface="Calibri" pitchFamily="34" charset="-120"/>
              </a:rPr>
              <a:t>: </a:t>
            </a:r>
            <a:r>
              <a:rPr lang="en-US" sz="2400" dirty="0">
                <a:solidFill>
                  <a:srgbClr val="374151"/>
                </a:solidFill>
                <a:latin typeface="Calibri" pitchFamily="34" charset="0"/>
                <a:ea typeface="Calibri" pitchFamily="34" charset="-122"/>
                <a:cs typeface="Calibri" pitchFamily="34" charset="-120"/>
              </a:rPr>
              <a:t>“</a:t>
            </a:r>
            <a:r>
              <a:rPr lang="en-US" sz="2400" dirty="0" err="1">
                <a:solidFill>
                  <a:srgbClr val="374151"/>
                </a:solidFill>
                <a:latin typeface="Calibri" pitchFamily="34" charset="0"/>
                <a:ea typeface="Calibri" pitchFamily="34" charset="-122"/>
                <a:cs typeface="Calibri" pitchFamily="34" charset="-120"/>
              </a:rPr>
              <a:t>Chết</a:t>
            </a:r>
            <a:r>
              <a:rPr lang="en-US" sz="2400" dirty="0">
                <a:solidFill>
                  <a:srgbClr val="374151"/>
                </a:solidFill>
                <a:latin typeface="Calibri" pitchFamily="34" charset="0"/>
                <a:ea typeface="Calibri" pitchFamily="34" charset="-122"/>
                <a:cs typeface="Calibri" pitchFamily="34" charset="-120"/>
              </a:rPr>
              <a:t>”, “</a:t>
            </a:r>
            <a:r>
              <a:rPr lang="en-US" sz="2400" dirty="0" err="1">
                <a:solidFill>
                  <a:srgbClr val="374151"/>
                </a:solidFill>
                <a:latin typeface="Calibri" pitchFamily="34" charset="0"/>
                <a:ea typeface="Calibri" pitchFamily="34" charset="-122"/>
                <a:cs typeface="Calibri" pitchFamily="34" charset="-120"/>
              </a:rPr>
              <a:t>Diệt</a:t>
            </a:r>
            <a:r>
              <a:rPr lang="en-US" sz="2400" dirty="0">
                <a:solidFill>
                  <a:srgbClr val="374151"/>
                </a:solidFill>
                <a:latin typeface="Calibri" pitchFamily="34" charset="0"/>
                <a:ea typeface="Calibri" pitchFamily="34" charset="-122"/>
                <a:cs typeface="Calibri" pitchFamily="34" charset="-120"/>
              </a:rPr>
              <a:t>”, “</a:t>
            </a:r>
            <a:r>
              <a:rPr lang="en-US" sz="2400" dirty="0" err="1">
                <a:solidFill>
                  <a:srgbClr val="374151"/>
                </a:solidFill>
                <a:latin typeface="Calibri" pitchFamily="34" charset="0"/>
                <a:ea typeface="Calibri" pitchFamily="34" charset="-122"/>
                <a:cs typeface="Calibri" pitchFamily="34" charset="-120"/>
              </a:rPr>
              <a:t>Đánh</a:t>
            </a:r>
            <a:r>
              <a:rPr lang="en-US" sz="2400" dirty="0">
                <a:solidFill>
                  <a:srgbClr val="374151"/>
                </a:solidFill>
                <a:latin typeface="Calibri" pitchFamily="34" charset="0"/>
                <a:ea typeface="Calibri" pitchFamily="34" charset="-122"/>
                <a:cs typeface="Calibri" pitchFamily="34" charset="-120"/>
              </a:rPr>
              <a:t>”, “</a:t>
            </a:r>
            <a:r>
              <a:rPr lang="en-US" sz="2400" dirty="0" err="1">
                <a:solidFill>
                  <a:srgbClr val="374151"/>
                </a:solidFill>
                <a:latin typeface="Calibri" pitchFamily="34" charset="0"/>
                <a:ea typeface="Calibri" pitchFamily="34" charset="-122"/>
                <a:cs typeface="Calibri" pitchFamily="34" charset="-120"/>
              </a:rPr>
              <a:t>Tấn</a:t>
            </a:r>
            <a:r>
              <a:rPr lang="en-US" sz="2400" dirty="0">
                <a:solidFill>
                  <a:srgbClr val="374151"/>
                </a:solidFill>
                <a:latin typeface="Calibri" pitchFamily="34" charset="0"/>
                <a:ea typeface="Calibri" pitchFamily="34" charset="-122"/>
                <a:cs typeface="Calibri" pitchFamily="34" charset="-120"/>
              </a:rPr>
              <a:t> </a:t>
            </a:r>
            <a:r>
              <a:rPr lang="en-US" sz="2400" dirty="0" err="1">
                <a:solidFill>
                  <a:srgbClr val="374151"/>
                </a:solidFill>
                <a:latin typeface="Calibri" pitchFamily="34" charset="0"/>
                <a:ea typeface="Calibri" pitchFamily="34" charset="-122"/>
                <a:cs typeface="Calibri" pitchFamily="34" charset="-120"/>
              </a:rPr>
              <a:t>công</a:t>
            </a:r>
            <a:r>
              <a:rPr lang="en-US" sz="2400" dirty="0">
                <a:solidFill>
                  <a:srgbClr val="374151"/>
                </a:solidFill>
                <a:latin typeface="Calibri" pitchFamily="34" charset="0"/>
                <a:ea typeface="Calibri" pitchFamily="34" charset="-122"/>
                <a:cs typeface="Calibri" pitchFamily="34" charset="-120"/>
              </a:rPr>
              <a:t>”, …</a:t>
            </a:r>
            <a:endParaRPr lang="en-US" sz="2400" dirty="0"/>
          </a:p>
          <a:p>
            <a:pPr marL="0" indent="0">
              <a:buNone/>
            </a:pPr>
            <a:endParaRPr lang="en-US" sz="2400" dirty="0"/>
          </a:p>
        </p:txBody>
      </p:sp>
      <p:sp>
        <p:nvSpPr>
          <p:cNvPr id="22" name="Text 20"/>
          <p:cNvSpPr/>
          <p:nvPr/>
        </p:nvSpPr>
        <p:spPr>
          <a:xfrm>
            <a:off x="5111841" y="3108960"/>
            <a:ext cx="5029200" cy="411480"/>
          </a:xfrm>
          <a:prstGeom prst="rect">
            <a:avLst/>
          </a:prstGeom>
          <a:noFill/>
          <a:ln/>
        </p:spPr>
        <p:txBody>
          <a:bodyPr wrap="square" rtlCol="0" anchor="ctr"/>
          <a:lstStyle/>
          <a:p>
            <a:pPr>
              <a:lnSpc>
                <a:spcPct val="112000"/>
              </a:lnSpc>
              <a:buSzPct val="100000"/>
            </a:pPr>
            <a:endParaRPr lang="en-US" sz="2400" dirty="0"/>
          </a:p>
        </p:txBody>
      </p:sp>
      <p:sp>
        <p:nvSpPr>
          <p:cNvPr id="36" name="Shape 18">
            <a:extLst>
              <a:ext uri="{FF2B5EF4-FFF2-40B4-BE49-F238E27FC236}">
                <a16:creationId xmlns:a16="http://schemas.microsoft.com/office/drawing/2014/main" id="{A1ADA889-26FB-5489-2A02-E00039704709}"/>
              </a:ext>
            </a:extLst>
          </p:cNvPr>
          <p:cNvSpPr/>
          <p:nvPr/>
        </p:nvSpPr>
        <p:spPr>
          <a:xfrm>
            <a:off x="594360" y="3463333"/>
            <a:ext cx="11094432" cy="3266651"/>
          </a:xfrm>
          <a:prstGeom prst="roundRect">
            <a:avLst/>
          </a:prstGeom>
          <a:solidFill>
            <a:srgbClr val="FFFFFF"/>
          </a:solidFill>
          <a:ln w="12700">
            <a:solidFill>
              <a:srgbClr val="CBD5E1"/>
            </a:solidFill>
            <a:prstDash val="solid"/>
          </a:ln>
        </p:spPr>
        <p:txBody>
          <a:bodyPr/>
          <a:lstStyle/>
          <a:p>
            <a:endParaRPr lang="vi-VN" dirty="0"/>
          </a:p>
        </p:txBody>
      </p:sp>
      <p:sp>
        <p:nvSpPr>
          <p:cNvPr id="39" name="Shape 6">
            <a:extLst>
              <a:ext uri="{FF2B5EF4-FFF2-40B4-BE49-F238E27FC236}">
                <a16:creationId xmlns:a16="http://schemas.microsoft.com/office/drawing/2014/main" id="{1D39B759-46FF-A7C1-C392-B91EE52373AA}"/>
              </a:ext>
            </a:extLst>
          </p:cNvPr>
          <p:cNvSpPr/>
          <p:nvPr/>
        </p:nvSpPr>
        <p:spPr>
          <a:xfrm>
            <a:off x="1451761" y="4869869"/>
            <a:ext cx="2514600" cy="1143000"/>
          </a:xfrm>
          <a:prstGeom prst="roundRect">
            <a:avLst/>
          </a:prstGeom>
          <a:solidFill>
            <a:srgbClr val="E0F2FE"/>
          </a:solidFill>
          <a:ln w="12700">
            <a:solidFill>
              <a:srgbClr val="7DD3FC"/>
            </a:solidFill>
            <a:prstDash val="solid"/>
          </a:ln>
          <a:effectLst>
            <a:outerShdw blurRad="31750" dist="12700" dir="2700000" algn="bl" rotWithShape="0">
              <a:srgbClr val="000000">
                <a:alpha val="10000"/>
              </a:srgbClr>
            </a:outerShdw>
          </a:effectLst>
        </p:spPr>
        <p:txBody>
          <a:bodyPr/>
          <a:lstStyle/>
          <a:p>
            <a:endParaRPr lang="vi-VN" dirty="0"/>
          </a:p>
        </p:txBody>
      </p:sp>
      <p:sp>
        <p:nvSpPr>
          <p:cNvPr id="40" name="Text 7">
            <a:extLst>
              <a:ext uri="{FF2B5EF4-FFF2-40B4-BE49-F238E27FC236}">
                <a16:creationId xmlns:a16="http://schemas.microsoft.com/office/drawing/2014/main" id="{28F01CD0-534A-A9F1-A086-130945F8DB46}"/>
              </a:ext>
            </a:extLst>
          </p:cNvPr>
          <p:cNvSpPr/>
          <p:nvPr/>
        </p:nvSpPr>
        <p:spPr>
          <a:xfrm>
            <a:off x="1611220" y="5184301"/>
            <a:ext cx="2256692" cy="536564"/>
          </a:xfrm>
          <a:prstGeom prst="rect">
            <a:avLst/>
          </a:prstGeom>
          <a:noFill/>
          <a:ln/>
        </p:spPr>
        <p:txBody>
          <a:bodyPr wrap="square" rtlCol="0" anchor="ctr"/>
          <a:lstStyle/>
          <a:p>
            <a:pPr algn="ctr"/>
            <a:r>
              <a:rPr lang="vi-VN" sz="2000" b="1" dirty="0">
                <a:solidFill>
                  <a:srgbClr val="111827"/>
                </a:solidFill>
                <a:latin typeface="Calibri" pitchFamily="34" charset="0"/>
                <a:ea typeface="Calibri" pitchFamily="34" charset="-122"/>
                <a:cs typeface="Calibri" pitchFamily="34" charset="-120"/>
              </a:rPr>
              <a:t>Thu thập trigger word</a:t>
            </a:r>
            <a:endParaRPr lang="en-US" sz="2000" b="1" dirty="0">
              <a:solidFill>
                <a:srgbClr val="111827"/>
              </a:solidFill>
              <a:latin typeface="Calibri" pitchFamily="34" charset="0"/>
              <a:ea typeface="Calibri" pitchFamily="34" charset="-122"/>
              <a:cs typeface="Calibri" pitchFamily="34" charset="-120"/>
            </a:endParaRPr>
          </a:p>
        </p:txBody>
      </p:sp>
      <p:sp>
        <p:nvSpPr>
          <p:cNvPr id="42" name="Shape 9">
            <a:extLst>
              <a:ext uri="{FF2B5EF4-FFF2-40B4-BE49-F238E27FC236}">
                <a16:creationId xmlns:a16="http://schemas.microsoft.com/office/drawing/2014/main" id="{9378FB5F-2D67-B80A-2AE9-7F0ABA995FE7}"/>
              </a:ext>
            </a:extLst>
          </p:cNvPr>
          <p:cNvSpPr/>
          <p:nvPr/>
        </p:nvSpPr>
        <p:spPr>
          <a:xfrm flipV="1">
            <a:off x="3966360" y="4561217"/>
            <a:ext cx="876855" cy="779568"/>
          </a:xfrm>
          <a:prstGeom prst="line">
            <a:avLst/>
          </a:prstGeom>
          <a:noFill/>
          <a:ln w="12700">
            <a:solidFill>
              <a:srgbClr val="6B7280"/>
            </a:solidFill>
            <a:prstDash val="solid"/>
            <a:headEnd type="none"/>
            <a:tailEnd type="triangle"/>
          </a:ln>
        </p:spPr>
        <p:txBody>
          <a:bodyPr/>
          <a:lstStyle/>
          <a:p>
            <a:endParaRPr lang="vi-VN" sz="4000"/>
          </a:p>
        </p:txBody>
      </p:sp>
      <p:sp>
        <p:nvSpPr>
          <p:cNvPr id="43" name="Shape 10">
            <a:extLst>
              <a:ext uri="{FF2B5EF4-FFF2-40B4-BE49-F238E27FC236}">
                <a16:creationId xmlns:a16="http://schemas.microsoft.com/office/drawing/2014/main" id="{1C9712A1-9B5F-9A8E-2E71-4210EF8FAB6F}"/>
              </a:ext>
            </a:extLst>
          </p:cNvPr>
          <p:cNvSpPr/>
          <p:nvPr/>
        </p:nvSpPr>
        <p:spPr>
          <a:xfrm>
            <a:off x="4837176" y="4015854"/>
            <a:ext cx="2514600" cy="1143000"/>
          </a:xfrm>
          <a:prstGeom prst="roundRect">
            <a:avLst/>
          </a:prstGeom>
          <a:solidFill>
            <a:srgbClr val="F3F4F6"/>
          </a:solidFill>
          <a:ln w="12700">
            <a:solidFill>
              <a:srgbClr val="CBD5E1"/>
            </a:solidFill>
            <a:prstDash val="solid"/>
          </a:ln>
          <a:effectLst>
            <a:outerShdw blurRad="31750" dist="12700" dir="2700000" algn="bl" rotWithShape="0">
              <a:srgbClr val="000000">
                <a:alpha val="10000"/>
              </a:srgbClr>
            </a:outerShdw>
          </a:effectLst>
        </p:spPr>
        <p:txBody>
          <a:bodyPr/>
          <a:lstStyle/>
          <a:p>
            <a:endParaRPr lang="vi-VN"/>
          </a:p>
        </p:txBody>
      </p:sp>
      <p:sp>
        <p:nvSpPr>
          <p:cNvPr id="44" name="Text 11">
            <a:extLst>
              <a:ext uri="{FF2B5EF4-FFF2-40B4-BE49-F238E27FC236}">
                <a16:creationId xmlns:a16="http://schemas.microsoft.com/office/drawing/2014/main" id="{C13376D6-BB3B-A3B8-B514-EC1B0E4A667C}"/>
              </a:ext>
            </a:extLst>
          </p:cNvPr>
          <p:cNvSpPr/>
          <p:nvPr/>
        </p:nvSpPr>
        <p:spPr>
          <a:xfrm>
            <a:off x="4928616" y="4431732"/>
            <a:ext cx="2331720" cy="320040"/>
          </a:xfrm>
          <a:prstGeom prst="rect">
            <a:avLst/>
          </a:prstGeom>
          <a:noFill/>
          <a:ln/>
        </p:spPr>
        <p:txBody>
          <a:bodyPr wrap="square" rtlCol="0" anchor="ctr"/>
          <a:lstStyle/>
          <a:p>
            <a:pPr marL="0" indent="0" algn="ctr">
              <a:buNone/>
            </a:pPr>
            <a:r>
              <a:rPr lang="vi-VN" sz="2000" b="1" dirty="0">
                <a:solidFill>
                  <a:srgbClr val="111827"/>
                </a:solidFill>
                <a:latin typeface="Calibri" pitchFamily="34" charset="0"/>
                <a:ea typeface="Calibri" pitchFamily="34" charset="-122"/>
                <a:cs typeface="Calibri" pitchFamily="34" charset="-120"/>
              </a:rPr>
              <a:t>Thu thập dữ liệu từ thực tế</a:t>
            </a:r>
            <a:endParaRPr lang="en-US" sz="2000" dirty="0"/>
          </a:p>
        </p:txBody>
      </p:sp>
      <p:sp>
        <p:nvSpPr>
          <p:cNvPr id="46" name="Shape 13">
            <a:extLst>
              <a:ext uri="{FF2B5EF4-FFF2-40B4-BE49-F238E27FC236}">
                <a16:creationId xmlns:a16="http://schemas.microsoft.com/office/drawing/2014/main" id="{26E4258F-C30D-2E46-B1C0-EA5DF89931AF}"/>
              </a:ext>
            </a:extLst>
          </p:cNvPr>
          <p:cNvSpPr/>
          <p:nvPr/>
        </p:nvSpPr>
        <p:spPr>
          <a:xfrm>
            <a:off x="3966360" y="5340786"/>
            <a:ext cx="876855" cy="779568"/>
          </a:xfrm>
          <a:prstGeom prst="line">
            <a:avLst/>
          </a:prstGeom>
          <a:noFill/>
          <a:ln w="12700">
            <a:solidFill>
              <a:srgbClr val="6B7280"/>
            </a:solidFill>
            <a:prstDash val="solid"/>
            <a:headEnd type="none"/>
            <a:tailEnd type="triangle"/>
          </a:ln>
        </p:spPr>
        <p:txBody>
          <a:bodyPr/>
          <a:lstStyle/>
          <a:p>
            <a:endParaRPr lang="vi-VN" sz="4000"/>
          </a:p>
        </p:txBody>
      </p:sp>
      <p:sp>
        <p:nvSpPr>
          <p:cNvPr id="47" name="Shape 14">
            <a:extLst>
              <a:ext uri="{FF2B5EF4-FFF2-40B4-BE49-F238E27FC236}">
                <a16:creationId xmlns:a16="http://schemas.microsoft.com/office/drawing/2014/main" id="{A3631E93-2052-55B4-30E4-C19E5818925C}"/>
              </a:ext>
            </a:extLst>
          </p:cNvPr>
          <p:cNvSpPr/>
          <p:nvPr/>
        </p:nvSpPr>
        <p:spPr>
          <a:xfrm>
            <a:off x="4843216" y="5493301"/>
            <a:ext cx="2514600" cy="1143000"/>
          </a:xfrm>
          <a:prstGeom prst="roundRect">
            <a:avLst/>
          </a:prstGeom>
          <a:solidFill>
            <a:srgbClr val="DCFCE7"/>
          </a:solidFill>
          <a:ln w="12700">
            <a:solidFill>
              <a:srgbClr val="86EFAC"/>
            </a:solidFill>
            <a:prstDash val="solid"/>
          </a:ln>
          <a:effectLst>
            <a:outerShdw blurRad="31750" dist="12700" dir="2700000" algn="bl" rotWithShape="0">
              <a:srgbClr val="000000">
                <a:alpha val="10000"/>
              </a:srgbClr>
            </a:outerShdw>
          </a:effectLst>
        </p:spPr>
        <p:txBody>
          <a:bodyPr/>
          <a:lstStyle/>
          <a:p>
            <a:endParaRPr lang="vi-VN"/>
          </a:p>
        </p:txBody>
      </p:sp>
      <p:sp>
        <p:nvSpPr>
          <p:cNvPr id="48" name="Text 15">
            <a:extLst>
              <a:ext uri="{FF2B5EF4-FFF2-40B4-BE49-F238E27FC236}">
                <a16:creationId xmlns:a16="http://schemas.microsoft.com/office/drawing/2014/main" id="{2353777F-CE17-99CC-5AE2-E895AD5C636B}"/>
              </a:ext>
            </a:extLst>
          </p:cNvPr>
          <p:cNvSpPr/>
          <p:nvPr/>
        </p:nvSpPr>
        <p:spPr>
          <a:xfrm>
            <a:off x="5064807" y="5911939"/>
            <a:ext cx="23317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Sinh </a:t>
            </a:r>
            <a:r>
              <a:rPr lang="vi-VN" sz="2000" b="1" dirty="0">
                <a:solidFill>
                  <a:srgbClr val="111827"/>
                </a:solidFill>
                <a:latin typeface="Calibri" pitchFamily="34" charset="0"/>
                <a:ea typeface="Calibri" pitchFamily="34" charset="-122"/>
                <a:cs typeface="Calibri" pitchFamily="34" charset="-120"/>
              </a:rPr>
              <a:t>dữ liệu từ AI</a:t>
            </a:r>
            <a:endParaRPr lang="en-US" sz="2000" dirty="0"/>
          </a:p>
        </p:txBody>
      </p:sp>
      <p:sp>
        <p:nvSpPr>
          <p:cNvPr id="50" name="Shape 17">
            <a:extLst>
              <a:ext uri="{FF2B5EF4-FFF2-40B4-BE49-F238E27FC236}">
                <a16:creationId xmlns:a16="http://schemas.microsoft.com/office/drawing/2014/main" id="{1A199F5F-1A9D-7F25-DC86-422E987F5374}"/>
              </a:ext>
            </a:extLst>
          </p:cNvPr>
          <p:cNvSpPr/>
          <p:nvPr/>
        </p:nvSpPr>
        <p:spPr>
          <a:xfrm>
            <a:off x="9663072" y="5848277"/>
            <a:ext cx="248055" cy="0"/>
          </a:xfrm>
          <a:prstGeom prst="line">
            <a:avLst/>
          </a:prstGeom>
          <a:noFill/>
          <a:ln w="12700">
            <a:solidFill>
              <a:srgbClr val="6B7280"/>
            </a:solidFill>
            <a:prstDash val="solid"/>
            <a:headEnd type="none"/>
            <a:tailEnd type="triangle"/>
          </a:ln>
        </p:spPr>
        <p:txBody>
          <a:bodyPr/>
          <a:lstStyle/>
          <a:p>
            <a:endParaRPr lang="vi-VN" sz="4000"/>
          </a:p>
        </p:txBody>
      </p:sp>
      <p:sp>
        <p:nvSpPr>
          <p:cNvPr id="51" name="Shape 18">
            <a:extLst>
              <a:ext uri="{FF2B5EF4-FFF2-40B4-BE49-F238E27FC236}">
                <a16:creationId xmlns:a16="http://schemas.microsoft.com/office/drawing/2014/main" id="{80587993-0082-B3D3-E6E6-0A672FAE1D08}"/>
              </a:ext>
            </a:extLst>
          </p:cNvPr>
          <p:cNvSpPr/>
          <p:nvPr/>
        </p:nvSpPr>
        <p:spPr>
          <a:xfrm>
            <a:off x="8405772" y="4881083"/>
            <a:ext cx="2514600" cy="1143000"/>
          </a:xfrm>
          <a:prstGeom prst="roundRect">
            <a:avLst/>
          </a:prstGeom>
          <a:solidFill>
            <a:srgbClr val="FEF3C7"/>
          </a:solidFill>
          <a:ln w="12700">
            <a:solidFill>
              <a:srgbClr val="FCD34D"/>
            </a:solidFill>
            <a:prstDash val="solid"/>
          </a:ln>
          <a:effectLst>
            <a:outerShdw blurRad="31750" dist="12700" dir="2700000" algn="bl" rotWithShape="0">
              <a:srgbClr val="000000">
                <a:alpha val="10000"/>
              </a:srgbClr>
            </a:outerShdw>
          </a:effectLst>
        </p:spPr>
        <p:txBody>
          <a:bodyPr/>
          <a:lstStyle/>
          <a:p>
            <a:endParaRPr lang="vi-VN"/>
          </a:p>
        </p:txBody>
      </p:sp>
      <p:sp>
        <p:nvSpPr>
          <p:cNvPr id="52" name="Text 19">
            <a:extLst>
              <a:ext uri="{FF2B5EF4-FFF2-40B4-BE49-F238E27FC236}">
                <a16:creationId xmlns:a16="http://schemas.microsoft.com/office/drawing/2014/main" id="{58E844CA-0479-715D-C035-66695DB97240}"/>
              </a:ext>
            </a:extLst>
          </p:cNvPr>
          <p:cNvSpPr/>
          <p:nvPr/>
        </p:nvSpPr>
        <p:spPr>
          <a:xfrm>
            <a:off x="8497212" y="5314475"/>
            <a:ext cx="2331720" cy="320040"/>
          </a:xfrm>
          <a:prstGeom prst="rect">
            <a:avLst/>
          </a:prstGeom>
          <a:noFill/>
          <a:ln/>
        </p:spPr>
        <p:txBody>
          <a:bodyPr wrap="square" rtlCol="0" anchor="ctr"/>
          <a:lstStyle/>
          <a:p>
            <a:pPr algn="ctr"/>
            <a:r>
              <a:rPr lang="vi-VN" sz="2000" b="1" dirty="0">
                <a:solidFill>
                  <a:srgbClr val="111827"/>
                </a:solidFill>
                <a:latin typeface="Calibri" pitchFamily="34" charset="0"/>
                <a:ea typeface="Calibri" pitchFamily="34" charset="-122"/>
                <a:cs typeface="Calibri" pitchFamily="34" charset="-120"/>
              </a:rPr>
              <a:t>Tổng hợp thành bộ dữ liệu</a:t>
            </a:r>
            <a:endParaRPr lang="en-US" sz="2000" b="1" dirty="0">
              <a:solidFill>
                <a:srgbClr val="111827"/>
              </a:solidFill>
              <a:latin typeface="Calibri" pitchFamily="34" charset="0"/>
              <a:ea typeface="Calibri" pitchFamily="34" charset="-122"/>
              <a:cs typeface="Calibri" pitchFamily="34" charset="-120"/>
            </a:endParaRPr>
          </a:p>
        </p:txBody>
      </p:sp>
      <p:sp>
        <p:nvSpPr>
          <p:cNvPr id="54" name="Shape 9">
            <a:extLst>
              <a:ext uri="{FF2B5EF4-FFF2-40B4-BE49-F238E27FC236}">
                <a16:creationId xmlns:a16="http://schemas.microsoft.com/office/drawing/2014/main" id="{AD863C53-35FF-59C1-A7A3-ECDF1831DBDF}"/>
              </a:ext>
            </a:extLst>
          </p:cNvPr>
          <p:cNvSpPr/>
          <p:nvPr/>
        </p:nvSpPr>
        <p:spPr>
          <a:xfrm>
            <a:off x="7351776" y="4618495"/>
            <a:ext cx="1053995" cy="809158"/>
          </a:xfrm>
          <a:prstGeom prst="line">
            <a:avLst/>
          </a:prstGeom>
          <a:noFill/>
          <a:ln w="12700">
            <a:solidFill>
              <a:srgbClr val="6B7280"/>
            </a:solidFill>
            <a:prstDash val="solid"/>
            <a:headEnd type="none"/>
            <a:tailEnd type="triangle"/>
          </a:ln>
        </p:spPr>
        <p:txBody>
          <a:bodyPr/>
          <a:lstStyle/>
          <a:p>
            <a:endParaRPr lang="vi-VN" sz="4000"/>
          </a:p>
        </p:txBody>
      </p:sp>
      <p:sp>
        <p:nvSpPr>
          <p:cNvPr id="55" name="Shape 9">
            <a:extLst>
              <a:ext uri="{FF2B5EF4-FFF2-40B4-BE49-F238E27FC236}">
                <a16:creationId xmlns:a16="http://schemas.microsoft.com/office/drawing/2014/main" id="{D1DD5E1B-C6BC-25CB-DBBB-BE33DA2AD19E}"/>
              </a:ext>
            </a:extLst>
          </p:cNvPr>
          <p:cNvSpPr/>
          <p:nvPr/>
        </p:nvSpPr>
        <p:spPr>
          <a:xfrm flipV="1">
            <a:off x="7396527" y="5441368"/>
            <a:ext cx="1009244" cy="678985"/>
          </a:xfrm>
          <a:prstGeom prst="line">
            <a:avLst/>
          </a:prstGeom>
          <a:noFill/>
          <a:ln w="12700">
            <a:solidFill>
              <a:srgbClr val="6B7280"/>
            </a:solidFill>
            <a:prstDash val="solid"/>
            <a:headEnd type="none"/>
            <a:tailEnd type="triangle"/>
          </a:ln>
        </p:spPr>
        <p:txBody>
          <a:bodyPr/>
          <a:lstStyle/>
          <a:p>
            <a:endParaRPr lang="vi-VN" sz="4000"/>
          </a:p>
        </p:txBody>
      </p:sp>
      <p:sp>
        <p:nvSpPr>
          <p:cNvPr id="56" name="Text 19">
            <a:extLst>
              <a:ext uri="{FF2B5EF4-FFF2-40B4-BE49-F238E27FC236}">
                <a16:creationId xmlns:a16="http://schemas.microsoft.com/office/drawing/2014/main" id="{1CE6F682-FCFC-5C15-E8CA-9655CD3A38D3}"/>
              </a:ext>
            </a:extLst>
          </p:cNvPr>
          <p:cNvSpPr/>
          <p:nvPr/>
        </p:nvSpPr>
        <p:spPr>
          <a:xfrm>
            <a:off x="766651" y="3599544"/>
            <a:ext cx="9810822" cy="320040"/>
          </a:xfrm>
          <a:prstGeom prst="rect">
            <a:avLst/>
          </a:prstGeom>
          <a:noFill/>
          <a:ln/>
        </p:spPr>
        <p:txBody>
          <a:bodyPr wrap="square" rtlCol="0" anchor="ctr"/>
          <a:lstStyle/>
          <a:p>
            <a:pPr marL="0" indent="0">
              <a:buNone/>
            </a:pPr>
            <a:r>
              <a:rPr lang="vi-VN" sz="2400" b="1" dirty="0">
                <a:solidFill>
                  <a:srgbClr val="111827"/>
                </a:solidFill>
                <a:latin typeface="Calibri" pitchFamily="34" charset="0"/>
                <a:ea typeface="Calibri" pitchFamily="34" charset="-122"/>
                <a:cs typeface="Calibri" pitchFamily="34" charset="-120"/>
              </a:rPr>
              <a:t>Quy trình xây dựng bộ dữ liệu</a:t>
            </a:r>
            <a:endParaRPr lang="en-US" sz="2400" b="1" dirty="0">
              <a:solidFill>
                <a:srgbClr val="111827"/>
              </a:solidFill>
              <a:latin typeface="Calibri" pitchFamily="34" charset="0"/>
              <a:ea typeface="Calibri" pitchFamily="34" charset="-122"/>
              <a:cs typeface="Calibri"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8412480"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Kết quả #1: Over-defense giảm cực mạnh</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Kết quả</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1051560"/>
            <a:ext cx="356616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7" name="Text 5"/>
          <p:cNvSpPr/>
          <p:nvPr/>
        </p:nvSpPr>
        <p:spPr>
          <a:xfrm>
            <a:off x="822960" y="1216152"/>
            <a:ext cx="3108960"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Giảm (điểm %)</a:t>
            </a:r>
            <a:endParaRPr lang="en-US" sz="2000" dirty="0"/>
          </a:p>
        </p:txBody>
      </p:sp>
      <p:sp>
        <p:nvSpPr>
          <p:cNvPr id="8" name="Text 6"/>
          <p:cNvSpPr/>
          <p:nvPr/>
        </p:nvSpPr>
        <p:spPr>
          <a:xfrm>
            <a:off x="822960" y="1463040"/>
            <a:ext cx="3108960" cy="640080"/>
          </a:xfrm>
          <a:prstGeom prst="rect">
            <a:avLst/>
          </a:prstGeom>
          <a:noFill/>
          <a:ln/>
        </p:spPr>
        <p:txBody>
          <a:bodyPr wrap="square" rtlCol="0" anchor="ctr"/>
          <a:lstStyle/>
          <a:p>
            <a:pPr marL="0" indent="0">
              <a:buNone/>
            </a:pPr>
            <a:r>
              <a:rPr lang="en-US" sz="3600" b="1" dirty="0">
                <a:solidFill>
                  <a:srgbClr val="27AE60"/>
                </a:solidFill>
                <a:latin typeface="Calibri" pitchFamily="34" charset="0"/>
                <a:ea typeface="Calibri" pitchFamily="34" charset="-122"/>
                <a:cs typeface="Calibri" pitchFamily="34" charset="-120"/>
              </a:rPr>
              <a:t>32.80</a:t>
            </a:r>
            <a:endParaRPr lang="en-US" sz="3600" dirty="0"/>
          </a:p>
        </p:txBody>
      </p:sp>
      <p:sp>
        <p:nvSpPr>
          <p:cNvPr id="9" name="Text 7"/>
          <p:cNvSpPr/>
          <p:nvPr/>
        </p:nvSpPr>
        <p:spPr>
          <a:xfrm>
            <a:off x="822960" y="2103120"/>
            <a:ext cx="3108960" cy="274320"/>
          </a:xfrm>
          <a:prstGeom prst="rect">
            <a:avLst/>
          </a:prstGeom>
          <a:noFill/>
          <a:ln/>
        </p:spPr>
        <p:txBody>
          <a:bodyPr wrap="square" rtlCol="0" anchor="ctr"/>
          <a:lstStyle/>
          <a:p>
            <a:pPr marL="0" indent="0">
              <a:buNone/>
            </a:pPr>
            <a:r>
              <a:rPr lang="vi-VN" sz="1600" dirty="0">
                <a:solidFill>
                  <a:srgbClr val="374151"/>
                </a:solidFill>
                <a:latin typeface="Calibri" pitchFamily="34" charset="0"/>
                <a:ea typeface="Calibri" pitchFamily="34" charset="-122"/>
                <a:cs typeface="Calibri" pitchFamily="34" charset="-120"/>
              </a:rPr>
              <a:t>Tỷ lệ phòng thủ quá mức</a:t>
            </a:r>
            <a:r>
              <a:rPr lang="en-US" sz="1600" dirty="0">
                <a:solidFill>
                  <a:srgbClr val="374151"/>
                </a:solidFill>
                <a:latin typeface="Calibri" pitchFamily="34" charset="0"/>
                <a:ea typeface="Calibri" pitchFamily="34" charset="-122"/>
                <a:cs typeface="Calibri" pitchFamily="34" charset="-120"/>
              </a:rPr>
              <a:t> ↓</a:t>
            </a:r>
            <a:endParaRPr lang="en-US" sz="1600" dirty="0"/>
          </a:p>
        </p:txBody>
      </p:sp>
      <p:sp>
        <p:nvSpPr>
          <p:cNvPr id="10" name="Shape 8"/>
          <p:cNvSpPr/>
          <p:nvPr/>
        </p:nvSpPr>
        <p:spPr>
          <a:xfrm>
            <a:off x="4343400" y="1051560"/>
            <a:ext cx="3566160"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1" name="Text 9"/>
          <p:cNvSpPr/>
          <p:nvPr/>
        </p:nvSpPr>
        <p:spPr>
          <a:xfrm>
            <a:off x="4572000" y="1216152"/>
            <a:ext cx="3108960"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Giảm theo lần</a:t>
            </a:r>
            <a:endParaRPr lang="en-US" sz="2000" dirty="0"/>
          </a:p>
        </p:txBody>
      </p:sp>
      <p:sp>
        <p:nvSpPr>
          <p:cNvPr id="12" name="Text 10"/>
          <p:cNvSpPr/>
          <p:nvPr/>
        </p:nvSpPr>
        <p:spPr>
          <a:xfrm>
            <a:off x="4572000" y="1463040"/>
            <a:ext cx="3108960" cy="640080"/>
          </a:xfrm>
          <a:prstGeom prst="rect">
            <a:avLst/>
          </a:prstGeom>
          <a:noFill/>
          <a:ln/>
        </p:spPr>
        <p:txBody>
          <a:bodyPr wrap="square" rtlCol="0" anchor="ctr"/>
          <a:lstStyle/>
          <a:p>
            <a:pPr marL="0" indent="0">
              <a:buNone/>
            </a:pPr>
            <a:r>
              <a:rPr lang="en-US" sz="3600" b="1" dirty="0">
                <a:solidFill>
                  <a:srgbClr val="F2994A"/>
                </a:solidFill>
                <a:latin typeface="Calibri" pitchFamily="34" charset="0"/>
                <a:ea typeface="Calibri" pitchFamily="34" charset="-122"/>
                <a:cs typeface="Calibri" pitchFamily="34" charset="-120"/>
              </a:rPr>
              <a:t>15.0×</a:t>
            </a:r>
            <a:endParaRPr lang="en-US" sz="3600" dirty="0"/>
          </a:p>
        </p:txBody>
      </p:sp>
      <p:sp>
        <p:nvSpPr>
          <p:cNvPr id="13" name="Text 11"/>
          <p:cNvSpPr/>
          <p:nvPr/>
        </p:nvSpPr>
        <p:spPr>
          <a:xfrm>
            <a:off x="4572000" y="2103120"/>
            <a:ext cx="3108960" cy="2743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ít chặn nhầm hơn</a:t>
            </a:r>
            <a:endParaRPr lang="en-US" sz="1600" dirty="0"/>
          </a:p>
        </p:txBody>
      </p:sp>
      <p:sp>
        <p:nvSpPr>
          <p:cNvPr id="14" name="Shape 12"/>
          <p:cNvSpPr/>
          <p:nvPr/>
        </p:nvSpPr>
        <p:spPr>
          <a:xfrm>
            <a:off x="8092440" y="1051560"/>
            <a:ext cx="3502152" cy="1417320"/>
          </a:xfrm>
          <a:prstGeom prst="roundRect">
            <a:avLst/>
          </a:prstGeom>
          <a:solidFill>
            <a:srgbClr val="F8FAFC"/>
          </a:solidFill>
          <a:ln w="12700">
            <a:solidFill>
              <a:srgbClr val="CBD5E1"/>
            </a:solidFill>
            <a:prstDash val="solid"/>
          </a:ln>
          <a:effectLst>
            <a:outerShdw blurRad="38100" dist="15240" dir="2700000" algn="bl" rotWithShape="0">
              <a:srgbClr val="000000">
                <a:alpha val="16000"/>
              </a:srgbClr>
            </a:outerShdw>
          </a:effectLst>
        </p:spPr>
        <p:txBody>
          <a:bodyPr/>
          <a:lstStyle/>
          <a:p>
            <a:endParaRPr lang="vi-VN"/>
          </a:p>
        </p:txBody>
      </p:sp>
      <p:sp>
        <p:nvSpPr>
          <p:cNvPr id="15" name="Text 13"/>
          <p:cNvSpPr/>
          <p:nvPr/>
        </p:nvSpPr>
        <p:spPr>
          <a:xfrm>
            <a:off x="8321040" y="1216152"/>
            <a:ext cx="3044952" cy="274320"/>
          </a:xfrm>
          <a:prstGeom prst="rect">
            <a:avLst/>
          </a:prstGeom>
          <a:noFill/>
          <a:ln/>
        </p:spPr>
        <p:txBody>
          <a:bodyPr wrap="square" rtlCol="0" anchor="ctr"/>
          <a:lstStyle/>
          <a:p>
            <a:pPr marL="0" indent="0">
              <a:buNone/>
            </a:pPr>
            <a:r>
              <a:rPr lang="en-US" sz="2000" b="1" dirty="0">
                <a:solidFill>
                  <a:srgbClr val="6B7280"/>
                </a:solidFill>
                <a:latin typeface="Calibri" pitchFamily="34" charset="0"/>
                <a:ea typeface="Calibri" pitchFamily="34" charset="-122"/>
                <a:cs typeface="Calibri" pitchFamily="34" charset="-120"/>
              </a:rPr>
              <a:t>KHVGuard</a:t>
            </a:r>
            <a:endParaRPr lang="en-US" sz="2000" dirty="0"/>
          </a:p>
        </p:txBody>
      </p:sp>
      <p:sp>
        <p:nvSpPr>
          <p:cNvPr id="16" name="Text 14"/>
          <p:cNvSpPr/>
          <p:nvPr/>
        </p:nvSpPr>
        <p:spPr>
          <a:xfrm>
            <a:off x="8321040" y="1463040"/>
            <a:ext cx="3044952" cy="640080"/>
          </a:xfrm>
          <a:prstGeom prst="rect">
            <a:avLst/>
          </a:prstGeom>
          <a:noFill/>
          <a:ln/>
        </p:spPr>
        <p:txBody>
          <a:bodyPr wrap="square" rtlCol="0" anchor="ctr"/>
          <a:lstStyle/>
          <a:p>
            <a:pPr marL="0" indent="0">
              <a:buNone/>
            </a:pPr>
            <a:r>
              <a:rPr lang="en-US" sz="3600" b="1" dirty="0">
                <a:solidFill>
                  <a:srgbClr val="2F80ED"/>
                </a:solidFill>
                <a:latin typeface="Calibri" pitchFamily="34" charset="0"/>
                <a:ea typeface="Calibri" pitchFamily="34" charset="-122"/>
                <a:cs typeface="Calibri" pitchFamily="34" charset="-120"/>
              </a:rPr>
              <a:t>2.35%</a:t>
            </a:r>
            <a:endParaRPr lang="en-US" sz="3600" dirty="0"/>
          </a:p>
        </p:txBody>
      </p:sp>
      <p:sp>
        <p:nvSpPr>
          <p:cNvPr id="17" name="Text 15"/>
          <p:cNvSpPr/>
          <p:nvPr/>
        </p:nvSpPr>
        <p:spPr>
          <a:xfrm>
            <a:off x="8321040" y="2103120"/>
            <a:ext cx="3044952" cy="2743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so </a:t>
            </a:r>
            <a:r>
              <a:rPr lang="en-US" sz="1600" dirty="0" err="1">
                <a:solidFill>
                  <a:srgbClr val="374151"/>
                </a:solidFill>
                <a:latin typeface="Calibri" pitchFamily="34" charset="0"/>
                <a:ea typeface="Calibri" pitchFamily="34" charset="-122"/>
                <a:cs typeface="Calibri" pitchFamily="34" charset="-120"/>
              </a:rPr>
              <a:t>với</a:t>
            </a:r>
            <a:r>
              <a:rPr lang="en-US" sz="1600" dirty="0">
                <a:solidFill>
                  <a:srgbClr val="374151"/>
                </a:solidFill>
                <a:latin typeface="Calibri" pitchFamily="34" charset="0"/>
                <a:ea typeface="Calibri" pitchFamily="34" charset="-122"/>
                <a:cs typeface="Calibri" pitchFamily="34" charset="-120"/>
              </a:rPr>
              <a:t> 35.15% </a:t>
            </a:r>
            <a:r>
              <a:rPr lang="vi-VN" sz="1600" dirty="0">
                <a:solidFill>
                  <a:srgbClr val="374151"/>
                </a:solidFill>
                <a:latin typeface="Calibri" pitchFamily="34" charset="0"/>
                <a:ea typeface="Calibri" pitchFamily="34" charset="-122"/>
                <a:cs typeface="Calibri" pitchFamily="34" charset="-120"/>
              </a:rPr>
              <a:t>của</a:t>
            </a:r>
            <a:r>
              <a:rPr lang="en-US" sz="1600" dirty="0">
                <a:solidFill>
                  <a:srgbClr val="374151"/>
                </a:solidFill>
                <a:latin typeface="Calibri" pitchFamily="34" charset="0"/>
                <a:ea typeface="Calibri" pitchFamily="34" charset="-122"/>
                <a:cs typeface="Calibri" pitchFamily="34" charset="-120"/>
              </a:rPr>
              <a:t> </a:t>
            </a:r>
            <a:r>
              <a:rPr lang="en-US" sz="1600" dirty="0" err="1">
                <a:solidFill>
                  <a:srgbClr val="374151"/>
                </a:solidFill>
                <a:latin typeface="Calibri" pitchFamily="34" charset="0"/>
                <a:ea typeface="Calibri" pitchFamily="34" charset="-122"/>
                <a:cs typeface="Calibri" pitchFamily="34" charset="-120"/>
              </a:rPr>
              <a:t>InjectGuard</a:t>
            </a:r>
            <a:endParaRPr lang="en-US" sz="1600" dirty="0"/>
          </a:p>
        </p:txBody>
      </p:sp>
      <p:graphicFrame>
        <p:nvGraphicFramePr>
          <p:cNvPr id="18" name="Chart 0"/>
          <p:cNvGraphicFramePr/>
          <p:nvPr>
            <p:extLst>
              <p:ext uri="{D42A27DB-BD31-4B8C-83A1-F6EECF244321}">
                <p14:modId xmlns:p14="http://schemas.microsoft.com/office/powerpoint/2010/main" val="2942087028"/>
              </p:ext>
            </p:extLst>
          </p:nvPr>
        </p:nvGraphicFramePr>
        <p:xfrm>
          <a:off x="594360" y="2788920"/>
          <a:ext cx="11000232" cy="36118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59" y="128016"/>
            <a:ext cx="9731459" cy="411480"/>
          </a:xfrm>
          <a:prstGeom prst="rect">
            <a:avLst/>
          </a:prstGeom>
          <a:noFill/>
          <a:ln/>
        </p:spPr>
        <p:txBody>
          <a:bodyPr wrap="square" rtlCol="0" anchor="ctr"/>
          <a:lstStyle/>
          <a:p>
            <a:pPr indent="0">
              <a:buNone/>
            </a:pPr>
            <a:r>
              <a:rPr lang="en-US" sz="2800" b="1" dirty="0">
                <a:solidFill>
                  <a:schemeClr val="bg1"/>
                </a:solidFill>
                <a:latin typeface="Be Vietnam Pro"/>
              </a:rPr>
              <a:t>Kết quả #2: </a:t>
            </a:r>
            <a:r>
              <a:rPr lang="vi-VN" sz="2800" b="1" dirty="0">
                <a:solidFill>
                  <a:schemeClr val="bg1"/>
                </a:solidFill>
                <a:latin typeface="Be Vietnam Pro"/>
              </a:rPr>
              <a:t>Độ chính xác cho từng nhãn</a:t>
            </a:r>
            <a:endParaRPr lang="en-US" sz="2800" b="1" dirty="0">
              <a:solidFill>
                <a:schemeClr val="bg1"/>
              </a:solidFill>
              <a:latin typeface="Be Vietnam Pro"/>
            </a:endParaRPr>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Kết quả</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1051560"/>
            <a:ext cx="5440680" cy="1874520"/>
          </a:xfrm>
          <a:prstGeom prst="roundRect">
            <a:avLst/>
          </a:prstGeom>
          <a:solidFill>
            <a:srgbClr val="FFFFFF"/>
          </a:solidFill>
          <a:ln w="12700">
            <a:solidFill>
              <a:srgbClr val="CBD5E1"/>
            </a:solidFill>
            <a:prstDash val="solid"/>
          </a:ln>
          <a:effectLst>
            <a:outerShdw blurRad="38100" dist="17780" dir="2700000" algn="bl" rotWithShape="0">
              <a:srgbClr val="000000">
                <a:alpha val="18000"/>
              </a:srgbClr>
            </a:outerShdw>
          </a:effectLst>
        </p:spPr>
        <p:txBody>
          <a:bodyPr/>
          <a:lstStyle/>
          <a:p>
            <a:endParaRPr lang="vi-VN"/>
          </a:p>
        </p:txBody>
      </p:sp>
      <p:sp>
        <p:nvSpPr>
          <p:cNvPr id="7" name="Shape 5"/>
          <p:cNvSpPr/>
          <p:nvPr/>
        </p:nvSpPr>
        <p:spPr>
          <a:xfrm>
            <a:off x="594360" y="1051560"/>
            <a:ext cx="73152" cy="1874520"/>
          </a:xfrm>
          <a:prstGeom prst="rect">
            <a:avLst/>
          </a:prstGeom>
          <a:solidFill>
            <a:srgbClr val="2F80ED"/>
          </a:solidFill>
          <a:ln w="12700">
            <a:solidFill>
              <a:srgbClr val="2F80ED"/>
            </a:solidFill>
            <a:prstDash val="solid"/>
          </a:ln>
        </p:spPr>
        <p:txBody>
          <a:bodyPr/>
          <a:lstStyle/>
          <a:p>
            <a:endParaRPr lang="vi-VN"/>
          </a:p>
        </p:txBody>
      </p:sp>
      <p:sp>
        <p:nvSpPr>
          <p:cNvPr id="8" name="Text 6"/>
          <p:cNvSpPr/>
          <p:nvPr/>
        </p:nvSpPr>
        <p:spPr>
          <a:xfrm>
            <a:off x="822960" y="1216152"/>
            <a:ext cx="5074920" cy="32004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Tóm </a:t>
            </a:r>
            <a:r>
              <a:rPr lang="en-US" sz="2000" b="1" dirty="0" err="1">
                <a:solidFill>
                  <a:srgbClr val="111827"/>
                </a:solidFill>
                <a:latin typeface="Calibri" pitchFamily="34" charset="0"/>
                <a:ea typeface="Calibri" pitchFamily="34" charset="-122"/>
                <a:cs typeface="Calibri" pitchFamily="34" charset="-120"/>
              </a:rPr>
              <a:t>tắt</a:t>
            </a:r>
            <a:r>
              <a:rPr lang="en-US" sz="2000" b="1" dirty="0">
                <a:solidFill>
                  <a:srgbClr val="111827"/>
                </a:solidFill>
                <a:latin typeface="Calibri" pitchFamily="34" charset="0"/>
                <a:ea typeface="Calibri" pitchFamily="34" charset="-122"/>
                <a:cs typeface="Calibri" pitchFamily="34" charset="-120"/>
              </a:rPr>
              <a:t> </a:t>
            </a:r>
            <a:r>
              <a:rPr lang="en-US" sz="2000" b="1" dirty="0" err="1">
                <a:solidFill>
                  <a:srgbClr val="111827"/>
                </a:solidFill>
                <a:latin typeface="Calibri" pitchFamily="34" charset="0"/>
                <a:ea typeface="Calibri" pitchFamily="34" charset="-122"/>
                <a:cs typeface="Calibri" pitchFamily="34" charset="-120"/>
              </a:rPr>
              <a:t>nhanh</a:t>
            </a:r>
            <a:r>
              <a:rPr lang="en-US" sz="2000" b="1" dirty="0">
                <a:solidFill>
                  <a:srgbClr val="111827"/>
                </a:solidFill>
                <a:latin typeface="Calibri" pitchFamily="34" charset="0"/>
                <a:ea typeface="Calibri" pitchFamily="34" charset="-122"/>
                <a:cs typeface="Calibri" pitchFamily="34" charset="-120"/>
              </a:rPr>
              <a:t> </a:t>
            </a:r>
            <a:r>
              <a:rPr lang="vi-VN" sz="2000" b="1" dirty="0">
                <a:solidFill>
                  <a:srgbClr val="111827"/>
                </a:solidFill>
                <a:latin typeface="Calibri" pitchFamily="34" charset="0"/>
                <a:ea typeface="Calibri" pitchFamily="34" charset="-122"/>
                <a:cs typeface="Calibri" pitchFamily="34" charset="-120"/>
              </a:rPr>
              <a:t>độ chính xác nhãn</a:t>
            </a:r>
            <a:endParaRPr lang="en-US" sz="2000" dirty="0"/>
          </a:p>
        </p:txBody>
      </p:sp>
      <p:sp>
        <p:nvSpPr>
          <p:cNvPr id="9" name="Text 7"/>
          <p:cNvSpPr/>
          <p:nvPr/>
        </p:nvSpPr>
        <p:spPr>
          <a:xfrm>
            <a:off x="850392" y="1618488"/>
            <a:ext cx="5184648" cy="1143000"/>
          </a:xfrm>
          <a:prstGeom prst="rect">
            <a:avLst/>
          </a:prstGeom>
          <a:noFill/>
          <a:ln/>
        </p:spPr>
        <p:txBody>
          <a:bodyPr wrap="square" rtlCol="0" anchor="t"/>
          <a:lstStyle/>
          <a:p>
            <a:pPr marL="228600" indent="-228600">
              <a:lnSpc>
                <a:spcPct val="110000"/>
              </a:lnSpc>
              <a:buSzPct val="100000"/>
              <a:buChar char="•"/>
            </a:pPr>
            <a:r>
              <a:rPr lang="vi-VN" sz="1600" dirty="0">
                <a:solidFill>
                  <a:srgbClr val="374151"/>
                </a:solidFill>
                <a:latin typeface="Calibri" pitchFamily="34" charset="0"/>
                <a:ea typeface="Calibri" pitchFamily="34" charset="-122"/>
                <a:cs typeface="Calibri" pitchFamily="34" charset="-120"/>
              </a:rPr>
              <a:t>An toàn</a:t>
            </a:r>
            <a:r>
              <a:rPr lang="en-US" sz="1600" dirty="0">
                <a:solidFill>
                  <a:srgbClr val="374151"/>
                </a:solidFill>
                <a:latin typeface="Calibri" pitchFamily="34" charset="0"/>
                <a:ea typeface="Calibri" pitchFamily="34" charset="-122"/>
                <a:cs typeface="Calibri" pitchFamily="34" charset="-120"/>
              </a:rPr>
              <a:t>: 73.99% → 97.11% (+23.12pp)</a:t>
            </a:r>
            <a:endParaRPr lang="en-US" sz="1600" dirty="0"/>
          </a:p>
          <a:p>
            <a:pPr marL="228600" indent="-228600">
              <a:lnSpc>
                <a:spcPct val="110000"/>
              </a:lnSpc>
              <a:buSzPct val="100000"/>
              <a:buChar char="•"/>
            </a:pPr>
            <a:r>
              <a:rPr lang="en-US" sz="1600" dirty="0">
                <a:solidFill>
                  <a:srgbClr val="374151"/>
                </a:solidFill>
                <a:latin typeface="Calibri" pitchFamily="34" charset="0"/>
                <a:ea typeface="Calibri" pitchFamily="34" charset="-122"/>
                <a:cs typeface="Calibri" pitchFamily="34" charset="-120"/>
              </a:rPr>
              <a:t>Nguy </a:t>
            </a:r>
            <a:r>
              <a:rPr lang="vi-VN" sz="1600" dirty="0">
                <a:solidFill>
                  <a:srgbClr val="374151"/>
                </a:solidFill>
                <a:latin typeface="Calibri" pitchFamily="34" charset="0"/>
                <a:ea typeface="Calibri" pitchFamily="34" charset="-122"/>
                <a:cs typeface="Calibri" pitchFamily="34" charset="-120"/>
              </a:rPr>
              <a:t>h</a:t>
            </a:r>
            <a:r>
              <a:rPr lang="en-US" sz="1600" dirty="0" err="1">
                <a:solidFill>
                  <a:srgbClr val="374151"/>
                </a:solidFill>
                <a:latin typeface="Calibri" pitchFamily="34" charset="0"/>
                <a:ea typeface="Calibri" pitchFamily="34" charset="-122"/>
                <a:cs typeface="Calibri" pitchFamily="34" charset="-120"/>
              </a:rPr>
              <a:t>iểm</a:t>
            </a:r>
            <a:r>
              <a:rPr lang="en-US" sz="1600" dirty="0">
                <a:solidFill>
                  <a:srgbClr val="374151"/>
                </a:solidFill>
                <a:latin typeface="Calibri" pitchFamily="34" charset="0"/>
                <a:ea typeface="Calibri" pitchFamily="34" charset="-122"/>
                <a:cs typeface="Calibri" pitchFamily="34" charset="-120"/>
              </a:rPr>
              <a:t>: 99.21% → 96.06% (-3.15pp)</a:t>
            </a:r>
            <a:endParaRPr lang="en-US" sz="1600" dirty="0"/>
          </a:p>
          <a:p>
            <a:pPr marL="228600" indent="-228600">
              <a:lnSpc>
                <a:spcPct val="110000"/>
              </a:lnSpc>
              <a:buSzPct val="100000"/>
              <a:buChar char="•"/>
            </a:pPr>
            <a:r>
              <a:rPr lang="en-US" sz="1600" dirty="0">
                <a:solidFill>
                  <a:srgbClr val="374151"/>
                </a:solidFill>
                <a:latin typeface="Calibri" pitchFamily="34" charset="0"/>
                <a:ea typeface="Calibri" pitchFamily="34" charset="-122"/>
                <a:cs typeface="Calibri" pitchFamily="34" charset="-120"/>
              </a:rPr>
              <a:t>Trung </a:t>
            </a:r>
            <a:r>
              <a:rPr lang="en-US" sz="1600" dirty="0" err="1">
                <a:solidFill>
                  <a:srgbClr val="374151"/>
                </a:solidFill>
                <a:latin typeface="Calibri" pitchFamily="34" charset="0"/>
                <a:ea typeface="Calibri" pitchFamily="34" charset="-122"/>
                <a:cs typeface="Calibri" pitchFamily="34" charset="-120"/>
              </a:rPr>
              <a:t>bình</a:t>
            </a:r>
            <a:r>
              <a:rPr lang="en-US" sz="1600" dirty="0">
                <a:solidFill>
                  <a:srgbClr val="374151"/>
                </a:solidFill>
                <a:latin typeface="Calibri" pitchFamily="34" charset="0"/>
                <a:ea typeface="Calibri" pitchFamily="34" charset="-122"/>
                <a:cs typeface="Calibri" pitchFamily="34" charset="-120"/>
              </a:rPr>
              <a:t>: 84.68% → 96.67% (+11.38pp)</a:t>
            </a:r>
            <a:endParaRPr lang="en-US" sz="1600" dirty="0"/>
          </a:p>
        </p:txBody>
      </p:sp>
      <p:sp>
        <p:nvSpPr>
          <p:cNvPr id="10" name="Shape 8"/>
          <p:cNvSpPr/>
          <p:nvPr/>
        </p:nvSpPr>
        <p:spPr>
          <a:xfrm>
            <a:off x="6263640" y="1051560"/>
            <a:ext cx="5330952" cy="1874520"/>
          </a:xfrm>
          <a:prstGeom prst="roundRect">
            <a:avLst/>
          </a:prstGeom>
          <a:solidFill>
            <a:srgbClr val="FFF7ED"/>
          </a:solidFill>
          <a:ln w="12700">
            <a:solidFill>
              <a:srgbClr val="FDBA74"/>
            </a:solidFill>
            <a:prstDash val="solid"/>
          </a:ln>
        </p:spPr>
        <p:txBody>
          <a:bodyPr/>
          <a:lstStyle/>
          <a:p>
            <a:endParaRPr lang="vi-VN"/>
          </a:p>
        </p:txBody>
      </p:sp>
      <p:sp>
        <p:nvSpPr>
          <p:cNvPr id="11" name="Text 9"/>
          <p:cNvSpPr/>
          <p:nvPr/>
        </p:nvSpPr>
        <p:spPr>
          <a:xfrm>
            <a:off x="6537960" y="1207008"/>
            <a:ext cx="4846320" cy="274320"/>
          </a:xfrm>
          <a:prstGeom prst="rect">
            <a:avLst/>
          </a:prstGeom>
          <a:noFill/>
          <a:ln/>
        </p:spPr>
        <p:txBody>
          <a:bodyPr wrap="square" rtlCol="0" anchor="ctr"/>
          <a:lstStyle/>
          <a:p>
            <a:pPr marL="0" indent="0">
              <a:buNone/>
            </a:pPr>
            <a:r>
              <a:rPr lang="en-US" b="1" dirty="0">
                <a:solidFill>
                  <a:srgbClr val="111827"/>
                </a:solidFill>
                <a:latin typeface="Calibri" pitchFamily="34" charset="0"/>
                <a:ea typeface="Calibri" pitchFamily="34" charset="-122"/>
                <a:cs typeface="Calibri" pitchFamily="34" charset="-120"/>
              </a:rPr>
              <a:t>Insight</a:t>
            </a:r>
            <a:endParaRPr lang="en-US" dirty="0"/>
          </a:p>
        </p:txBody>
      </p:sp>
      <p:sp>
        <p:nvSpPr>
          <p:cNvPr id="12" name="Text 10"/>
          <p:cNvSpPr/>
          <p:nvPr/>
        </p:nvSpPr>
        <p:spPr>
          <a:xfrm>
            <a:off x="6537960" y="1481328"/>
            <a:ext cx="4846320" cy="1280160"/>
          </a:xfrm>
          <a:prstGeom prst="rect">
            <a:avLst/>
          </a:prstGeom>
          <a:noFill/>
          <a:ln/>
        </p:spPr>
        <p:txBody>
          <a:bodyPr wrap="square" rtlCol="0" anchor="ctr"/>
          <a:lstStyle/>
          <a:p>
            <a:pPr marL="0" indent="0">
              <a:lnSpc>
                <a:spcPct val="115000"/>
              </a:lnSpc>
              <a:buNone/>
            </a:pPr>
            <a:r>
              <a:rPr lang="en-US" sz="1600" dirty="0">
                <a:solidFill>
                  <a:srgbClr val="374151"/>
                </a:solidFill>
                <a:latin typeface="Calibri" pitchFamily="34" charset="0"/>
                <a:ea typeface="Calibri" pitchFamily="34" charset="-122"/>
                <a:cs typeface="Calibri" pitchFamily="34" charset="-120"/>
              </a:rPr>
              <a:t>KHVGuard *đổi điểm cân bằng*: giảm chặn nhầm (FP)</a:t>
            </a:r>
            <a:endParaRPr lang="en-US" sz="1600" dirty="0"/>
          </a:p>
          <a:p>
            <a:pPr marL="0" indent="0">
              <a:lnSpc>
                <a:spcPct val="115000"/>
              </a:lnSpc>
              <a:buNone/>
            </a:pPr>
            <a:r>
              <a:rPr lang="en-US" sz="1600" dirty="0">
                <a:solidFill>
                  <a:srgbClr val="374151"/>
                </a:solidFill>
                <a:latin typeface="Calibri" pitchFamily="34" charset="0"/>
                <a:ea typeface="Calibri" pitchFamily="34" charset="-122"/>
                <a:cs typeface="Calibri" pitchFamily="34" charset="-120"/>
              </a:rPr>
              <a:t>chấp nhận tăng nhẹ FN nhưng vẫn giữ recall cao.</a:t>
            </a:r>
            <a:endParaRPr lang="en-US" sz="1600" dirty="0"/>
          </a:p>
        </p:txBody>
      </p:sp>
      <p:graphicFrame>
        <p:nvGraphicFramePr>
          <p:cNvPr id="13" name="Chart 0"/>
          <p:cNvGraphicFramePr/>
          <p:nvPr>
            <p:extLst>
              <p:ext uri="{D42A27DB-BD31-4B8C-83A1-F6EECF244321}">
                <p14:modId xmlns:p14="http://schemas.microsoft.com/office/powerpoint/2010/main" val="1752226352"/>
              </p:ext>
            </p:extLst>
          </p:nvPr>
        </p:nvGraphicFramePr>
        <p:xfrm>
          <a:off x="594360" y="3154680"/>
          <a:ext cx="11000232" cy="3246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9722832" cy="4114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Case study: "diệt virus" — cùng từ khóa, khác ngữ cảnh</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Minh họa</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60" y="1097280"/>
            <a:ext cx="11000232" cy="960120"/>
          </a:xfrm>
          <a:prstGeom prst="roundRect">
            <a:avLst/>
          </a:prstGeom>
          <a:solidFill>
            <a:srgbClr val="F9FAFB"/>
          </a:solidFill>
          <a:ln w="12700">
            <a:solidFill>
              <a:srgbClr val="CBD5E1"/>
            </a:solidFill>
            <a:prstDash val="solid"/>
          </a:ln>
        </p:spPr>
        <p:txBody>
          <a:bodyPr/>
          <a:lstStyle/>
          <a:p>
            <a:endParaRPr lang="vi-VN"/>
          </a:p>
        </p:txBody>
      </p:sp>
      <p:sp>
        <p:nvSpPr>
          <p:cNvPr id="7" name="Text 5"/>
          <p:cNvSpPr/>
          <p:nvPr/>
        </p:nvSpPr>
        <p:spPr>
          <a:xfrm>
            <a:off x="868680" y="1370392"/>
            <a:ext cx="1005840" cy="320040"/>
          </a:xfrm>
          <a:prstGeom prst="rect">
            <a:avLst/>
          </a:prstGeom>
          <a:noFill/>
          <a:ln/>
        </p:spPr>
        <p:txBody>
          <a:bodyPr wrap="square" rtlCol="0" anchor="ctr"/>
          <a:lstStyle/>
          <a:p>
            <a:pPr marL="0" indent="0">
              <a:buNone/>
            </a:pPr>
            <a:r>
              <a:rPr lang="en-US" b="1" dirty="0">
                <a:solidFill>
                  <a:srgbClr val="111827"/>
                </a:solidFill>
                <a:latin typeface="Calibri" pitchFamily="34" charset="0"/>
                <a:ea typeface="Calibri" pitchFamily="34" charset="-122"/>
                <a:cs typeface="Calibri" pitchFamily="34" charset="-120"/>
              </a:rPr>
              <a:t>Prompt:</a:t>
            </a:r>
            <a:endParaRPr lang="en-US" dirty="0"/>
          </a:p>
        </p:txBody>
      </p:sp>
      <p:sp>
        <p:nvSpPr>
          <p:cNvPr id="8" name="Text 6"/>
          <p:cNvSpPr/>
          <p:nvPr/>
        </p:nvSpPr>
        <p:spPr>
          <a:xfrm>
            <a:off x="1874520" y="1333816"/>
            <a:ext cx="9418320" cy="411480"/>
          </a:xfrm>
          <a:prstGeom prst="rect">
            <a:avLst/>
          </a:prstGeom>
          <a:noFill/>
          <a:ln/>
        </p:spPr>
        <p:txBody>
          <a:bodyPr wrap="square" rtlCol="0" anchor="ctr"/>
          <a:lstStyle/>
          <a:p>
            <a:pPr marL="0" indent="0">
              <a:buNone/>
            </a:pPr>
            <a:r>
              <a:rPr lang="en-US" sz="2800" i="1" dirty="0">
                <a:solidFill>
                  <a:srgbClr val="374151"/>
                </a:solidFill>
                <a:latin typeface="Calibri" pitchFamily="34" charset="0"/>
                <a:ea typeface="Calibri" pitchFamily="34" charset="-122"/>
                <a:cs typeface="Calibri" pitchFamily="34" charset="-120"/>
              </a:rPr>
              <a:t>“Làm sao để diệt virus trên máy tính?”</a:t>
            </a:r>
            <a:endParaRPr lang="en-US" sz="2800" dirty="0"/>
          </a:p>
        </p:txBody>
      </p:sp>
      <p:sp>
        <p:nvSpPr>
          <p:cNvPr id="9" name="Shape 7"/>
          <p:cNvSpPr/>
          <p:nvPr/>
        </p:nvSpPr>
        <p:spPr>
          <a:xfrm>
            <a:off x="594360" y="2331720"/>
            <a:ext cx="5440680" cy="3840480"/>
          </a:xfrm>
          <a:prstGeom prst="roundRect">
            <a:avLst/>
          </a:prstGeom>
          <a:solidFill>
            <a:srgbClr val="FEF2F2"/>
          </a:solidFill>
          <a:ln w="12700">
            <a:solidFill>
              <a:srgbClr val="FCA5A5"/>
            </a:solidFill>
            <a:prstDash val="solid"/>
          </a:ln>
        </p:spPr>
        <p:txBody>
          <a:bodyPr/>
          <a:lstStyle/>
          <a:p>
            <a:endParaRPr lang="vi-VN"/>
          </a:p>
        </p:txBody>
      </p:sp>
      <p:sp>
        <p:nvSpPr>
          <p:cNvPr id="10" name="Text 8"/>
          <p:cNvSpPr/>
          <p:nvPr/>
        </p:nvSpPr>
        <p:spPr>
          <a:xfrm>
            <a:off x="868680" y="2514600"/>
            <a:ext cx="4892040" cy="320040"/>
          </a:xfrm>
          <a:prstGeom prst="rect">
            <a:avLst/>
          </a:prstGeom>
          <a:noFill/>
          <a:ln/>
        </p:spPr>
        <p:txBody>
          <a:bodyPr wrap="square" rtlCol="0" anchor="ctr"/>
          <a:lstStyle/>
          <a:p>
            <a:pPr marL="0" indent="0">
              <a:buNone/>
            </a:pPr>
            <a:r>
              <a:rPr lang="en-US" sz="1600" b="1" dirty="0">
                <a:solidFill>
                  <a:srgbClr val="991B1B"/>
                </a:solidFill>
                <a:latin typeface="Calibri" pitchFamily="34" charset="0"/>
                <a:ea typeface="Calibri" pitchFamily="34" charset="-122"/>
                <a:cs typeface="Calibri" pitchFamily="34" charset="-120"/>
              </a:rPr>
              <a:t>InjecGuard (DeBERTa)</a:t>
            </a:r>
            <a:endParaRPr lang="en-US" sz="1600" dirty="0"/>
          </a:p>
        </p:txBody>
      </p:sp>
      <p:sp>
        <p:nvSpPr>
          <p:cNvPr id="11" name="Text 9"/>
          <p:cNvSpPr/>
          <p:nvPr/>
        </p:nvSpPr>
        <p:spPr>
          <a:xfrm>
            <a:off x="868680" y="2971800"/>
            <a:ext cx="4892040" cy="27432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Token focus:</a:t>
            </a:r>
            <a:endParaRPr lang="en-US" sz="1300" dirty="0"/>
          </a:p>
        </p:txBody>
      </p:sp>
      <p:sp>
        <p:nvSpPr>
          <p:cNvPr id="12" name="Shape 10"/>
          <p:cNvSpPr/>
          <p:nvPr/>
        </p:nvSpPr>
        <p:spPr>
          <a:xfrm>
            <a:off x="868680" y="3291840"/>
            <a:ext cx="4892040" cy="502920"/>
          </a:xfrm>
          <a:prstGeom prst="roundRect">
            <a:avLst/>
          </a:prstGeom>
          <a:solidFill>
            <a:srgbClr val="FEE2E2"/>
          </a:solidFill>
          <a:ln w="12700">
            <a:solidFill>
              <a:srgbClr val="FCA5A5"/>
            </a:solidFill>
            <a:prstDash val="solid"/>
          </a:ln>
        </p:spPr>
        <p:txBody>
          <a:bodyPr/>
          <a:lstStyle/>
          <a:p>
            <a:endParaRPr lang="vi-VN"/>
          </a:p>
        </p:txBody>
      </p:sp>
      <p:sp>
        <p:nvSpPr>
          <p:cNvPr id="13" name="Text 11"/>
          <p:cNvSpPr/>
          <p:nvPr/>
        </p:nvSpPr>
        <p:spPr>
          <a:xfrm>
            <a:off x="1051560" y="3401568"/>
            <a:ext cx="4572000" cy="320040"/>
          </a:xfrm>
          <a:prstGeom prst="rect">
            <a:avLst/>
          </a:prstGeom>
          <a:noFill/>
          <a:ln/>
        </p:spPr>
        <p:txBody>
          <a:bodyPr wrap="square" rtlCol="0" anchor="ctr"/>
          <a:lstStyle/>
          <a:p>
            <a:pPr marL="0" indent="0">
              <a:buNone/>
            </a:pPr>
            <a:r>
              <a:rPr lang="en-US" sz="1800" b="1" dirty="0">
                <a:solidFill>
                  <a:srgbClr val="991B1B"/>
                </a:solidFill>
                <a:latin typeface="Calibri" pitchFamily="34" charset="0"/>
                <a:ea typeface="Calibri" pitchFamily="34" charset="-122"/>
                <a:cs typeface="Calibri" pitchFamily="34" charset="-120"/>
              </a:rPr>
              <a:t>diệt</a:t>
            </a:r>
            <a:endParaRPr lang="en-US" sz="1800" dirty="0"/>
          </a:p>
        </p:txBody>
      </p:sp>
      <p:sp>
        <p:nvSpPr>
          <p:cNvPr id="14" name="Text 12"/>
          <p:cNvSpPr/>
          <p:nvPr/>
        </p:nvSpPr>
        <p:spPr>
          <a:xfrm>
            <a:off x="868680" y="3977640"/>
            <a:ext cx="4892040" cy="320040"/>
          </a:xfrm>
          <a:prstGeom prst="rect">
            <a:avLst/>
          </a:prstGeom>
          <a:noFill/>
          <a:ln/>
        </p:spPr>
        <p:txBody>
          <a:bodyPr wrap="square" rtlCol="0" anchor="ctr"/>
          <a:lstStyle/>
          <a:p>
            <a:pPr marL="0" indent="0">
              <a:buNone/>
            </a:pPr>
            <a:r>
              <a:rPr lang="en-US" sz="1400" b="1" dirty="0">
                <a:solidFill>
                  <a:srgbClr val="991B1B"/>
                </a:solidFill>
                <a:latin typeface="Calibri" pitchFamily="34" charset="0"/>
                <a:ea typeface="Calibri" pitchFamily="34" charset="-122"/>
                <a:cs typeface="Calibri" pitchFamily="34" charset="-120"/>
              </a:rPr>
              <a:t>→ dự đoán *Attack* (false positive)</a:t>
            </a:r>
            <a:endParaRPr lang="en-US" sz="1400" dirty="0"/>
          </a:p>
        </p:txBody>
      </p:sp>
      <p:sp>
        <p:nvSpPr>
          <p:cNvPr id="15" name="Text 13"/>
          <p:cNvSpPr/>
          <p:nvPr/>
        </p:nvSpPr>
        <p:spPr>
          <a:xfrm>
            <a:off x="868680" y="4343400"/>
            <a:ext cx="4892040" cy="100584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Lý do: tách cụm nghĩa, nhạy quá với trigger words.</a:t>
            </a:r>
            <a:endParaRPr lang="en-US" sz="1300" dirty="0"/>
          </a:p>
        </p:txBody>
      </p:sp>
      <p:sp>
        <p:nvSpPr>
          <p:cNvPr id="16" name="Shape 14"/>
          <p:cNvSpPr/>
          <p:nvPr/>
        </p:nvSpPr>
        <p:spPr>
          <a:xfrm>
            <a:off x="6153912" y="2331720"/>
            <a:ext cx="5440680" cy="3840480"/>
          </a:xfrm>
          <a:prstGeom prst="roundRect">
            <a:avLst/>
          </a:prstGeom>
          <a:solidFill>
            <a:srgbClr val="ECFDF5"/>
          </a:solidFill>
          <a:ln w="12700">
            <a:solidFill>
              <a:srgbClr val="86EFAC"/>
            </a:solidFill>
            <a:prstDash val="solid"/>
          </a:ln>
        </p:spPr>
        <p:txBody>
          <a:bodyPr/>
          <a:lstStyle/>
          <a:p>
            <a:endParaRPr lang="vi-VN"/>
          </a:p>
        </p:txBody>
      </p:sp>
      <p:sp>
        <p:nvSpPr>
          <p:cNvPr id="17" name="Text 15"/>
          <p:cNvSpPr/>
          <p:nvPr/>
        </p:nvSpPr>
        <p:spPr>
          <a:xfrm>
            <a:off x="6428232" y="2514600"/>
            <a:ext cx="4892040" cy="320040"/>
          </a:xfrm>
          <a:prstGeom prst="rect">
            <a:avLst/>
          </a:prstGeom>
          <a:noFill/>
          <a:ln/>
        </p:spPr>
        <p:txBody>
          <a:bodyPr wrap="square" rtlCol="0" anchor="ctr"/>
          <a:lstStyle/>
          <a:p>
            <a:pPr marL="0" indent="0">
              <a:buNone/>
            </a:pPr>
            <a:r>
              <a:rPr lang="en-US" sz="1600" b="1" dirty="0">
                <a:solidFill>
                  <a:srgbClr val="14532D"/>
                </a:solidFill>
                <a:latin typeface="Calibri" pitchFamily="34" charset="0"/>
                <a:ea typeface="Calibri" pitchFamily="34" charset="-122"/>
                <a:cs typeface="Calibri" pitchFamily="34" charset="-120"/>
              </a:rPr>
              <a:t>KHVGuard (PhoBERT)</a:t>
            </a:r>
            <a:endParaRPr lang="en-US" sz="1600" dirty="0"/>
          </a:p>
        </p:txBody>
      </p:sp>
      <p:sp>
        <p:nvSpPr>
          <p:cNvPr id="18" name="Text 16"/>
          <p:cNvSpPr/>
          <p:nvPr/>
        </p:nvSpPr>
        <p:spPr>
          <a:xfrm>
            <a:off x="6428232" y="2971800"/>
            <a:ext cx="4892040" cy="27432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Token focus:</a:t>
            </a:r>
            <a:endParaRPr lang="en-US" sz="1300" dirty="0"/>
          </a:p>
        </p:txBody>
      </p:sp>
      <p:sp>
        <p:nvSpPr>
          <p:cNvPr id="19" name="Shape 17"/>
          <p:cNvSpPr/>
          <p:nvPr/>
        </p:nvSpPr>
        <p:spPr>
          <a:xfrm>
            <a:off x="6428232" y="3291840"/>
            <a:ext cx="4892040" cy="502920"/>
          </a:xfrm>
          <a:prstGeom prst="roundRect">
            <a:avLst/>
          </a:prstGeom>
          <a:solidFill>
            <a:srgbClr val="DCFCE7"/>
          </a:solidFill>
          <a:ln w="12700">
            <a:solidFill>
              <a:srgbClr val="86EFAC"/>
            </a:solidFill>
            <a:prstDash val="solid"/>
          </a:ln>
        </p:spPr>
        <p:txBody>
          <a:bodyPr/>
          <a:lstStyle/>
          <a:p>
            <a:endParaRPr lang="vi-VN"/>
          </a:p>
        </p:txBody>
      </p:sp>
      <p:sp>
        <p:nvSpPr>
          <p:cNvPr id="20" name="Text 18"/>
          <p:cNvSpPr/>
          <p:nvPr/>
        </p:nvSpPr>
        <p:spPr>
          <a:xfrm>
            <a:off x="6611112" y="3401568"/>
            <a:ext cx="4572000" cy="320040"/>
          </a:xfrm>
          <a:prstGeom prst="rect">
            <a:avLst/>
          </a:prstGeom>
          <a:noFill/>
          <a:ln/>
        </p:spPr>
        <p:txBody>
          <a:bodyPr wrap="square" rtlCol="0" anchor="ctr"/>
          <a:lstStyle/>
          <a:p>
            <a:pPr marL="0" indent="0">
              <a:buNone/>
            </a:pPr>
            <a:r>
              <a:rPr lang="en-US" sz="1800" b="1" dirty="0">
                <a:solidFill>
                  <a:srgbClr val="14532D"/>
                </a:solidFill>
                <a:latin typeface="Calibri" pitchFamily="34" charset="0"/>
                <a:ea typeface="Calibri" pitchFamily="34" charset="-122"/>
                <a:cs typeface="Calibri" pitchFamily="34" charset="-120"/>
              </a:rPr>
              <a:t>diệt_virus  +  máy_tính</a:t>
            </a:r>
            <a:endParaRPr lang="en-US" sz="1800" dirty="0"/>
          </a:p>
        </p:txBody>
      </p:sp>
      <p:sp>
        <p:nvSpPr>
          <p:cNvPr id="21" name="Text 19"/>
          <p:cNvSpPr/>
          <p:nvPr/>
        </p:nvSpPr>
        <p:spPr>
          <a:xfrm>
            <a:off x="6428232" y="3977640"/>
            <a:ext cx="4892040" cy="320040"/>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 dự đoán *Benign* (đúng)</a:t>
            </a:r>
            <a:endParaRPr lang="en-US" sz="1400" dirty="0"/>
          </a:p>
        </p:txBody>
      </p:sp>
      <p:sp>
        <p:nvSpPr>
          <p:cNvPr id="22" name="Text 20"/>
          <p:cNvSpPr/>
          <p:nvPr/>
        </p:nvSpPr>
        <p:spPr>
          <a:xfrm>
            <a:off x="6428232" y="4343400"/>
            <a:ext cx="4892040" cy="100584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Lý do: giữ cụm nghĩa + biểu diễn ngữ cảnh tiếng Việt tốt hơn.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594360" y="128016"/>
            <a:ext cx="8412480" cy="411480"/>
          </a:xfrm>
          <a:prstGeom prst="rect">
            <a:avLst/>
          </a:prstGeom>
          <a:noFill/>
          <a:ln/>
        </p:spPr>
        <p:txBody>
          <a:bodyPr wrap="square" rtlCol="0" anchor="ctr"/>
          <a:lstStyle/>
          <a:p>
            <a:pPr marL="0" indent="0">
              <a:buNone/>
            </a:pPr>
            <a:r>
              <a:rPr lang="en-US" sz="3200" b="1" dirty="0" err="1">
                <a:solidFill>
                  <a:srgbClr val="FFFFFF"/>
                </a:solidFill>
                <a:latin typeface="Calibri" pitchFamily="34" charset="0"/>
                <a:ea typeface="Calibri" pitchFamily="34" charset="-122"/>
                <a:cs typeface="Calibri" pitchFamily="34" charset="-120"/>
              </a:rPr>
              <a:t>Những</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điểm</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hạn</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chế</a:t>
            </a:r>
            <a:r>
              <a:rPr lang="en-US" sz="3200" b="1" dirty="0">
                <a:solidFill>
                  <a:srgbClr val="FFFFFF"/>
                </a:solidFill>
                <a:latin typeface="Calibri" pitchFamily="34" charset="0"/>
                <a:ea typeface="Calibri" pitchFamily="34" charset="-122"/>
                <a:cs typeface="Calibri" pitchFamily="34" charset="-120"/>
              </a:rPr>
              <a:t> &amp; hướng phát triển</a:t>
            </a:r>
            <a:endParaRPr lang="en-US" sz="3200" dirty="0"/>
          </a:p>
        </p:txBody>
      </p:sp>
      <p:sp>
        <p:nvSpPr>
          <p:cNvPr id="4" name="Text 2"/>
          <p:cNvSpPr/>
          <p:nvPr/>
        </p:nvSpPr>
        <p:spPr>
          <a:xfrm>
            <a:off x="9098280" y="164592"/>
            <a:ext cx="2788920" cy="365760"/>
          </a:xfrm>
          <a:prstGeom prst="rect">
            <a:avLst/>
          </a:prstGeom>
          <a:noFill/>
          <a:ln/>
        </p:spPr>
        <p:txBody>
          <a:bodyPr wrap="square" rtlCol="0" anchor="ctr"/>
          <a:lstStyle/>
          <a:p>
            <a:pPr marL="0" indent="0" algn="r">
              <a:buNone/>
            </a:pPr>
            <a:r>
              <a:rPr lang="en-US" sz="1200" i="1" dirty="0">
                <a:solidFill>
                  <a:srgbClr val="D1D5DB"/>
                </a:solidFill>
                <a:latin typeface="Calibri" pitchFamily="34" charset="0"/>
                <a:ea typeface="Calibri" pitchFamily="34" charset="-122"/>
                <a:cs typeface="Calibri" pitchFamily="34" charset="-120"/>
              </a:rPr>
              <a:t>Kết luận</a:t>
            </a:r>
            <a:endParaRPr lang="en-US" sz="1200" dirty="0"/>
          </a:p>
        </p:txBody>
      </p:sp>
      <p:sp>
        <p:nvSpPr>
          <p:cNvPr id="5" name="Shape 3"/>
          <p:cNvSpPr/>
          <p:nvPr/>
        </p:nvSpPr>
        <p:spPr>
          <a:xfrm>
            <a:off x="0" y="658368"/>
            <a:ext cx="12191695" cy="54864"/>
          </a:xfrm>
          <a:prstGeom prst="rect">
            <a:avLst/>
          </a:prstGeom>
          <a:solidFill>
            <a:srgbClr val="2F80ED"/>
          </a:solidFill>
          <a:ln w="12700">
            <a:solidFill>
              <a:srgbClr val="2F80ED"/>
            </a:solidFill>
            <a:prstDash val="solid"/>
          </a:ln>
        </p:spPr>
        <p:txBody>
          <a:bodyPr/>
          <a:lstStyle/>
          <a:p>
            <a:endParaRPr lang="vi-VN"/>
          </a:p>
        </p:txBody>
      </p:sp>
      <p:sp>
        <p:nvSpPr>
          <p:cNvPr id="6" name="Shape 4"/>
          <p:cNvSpPr/>
          <p:nvPr/>
        </p:nvSpPr>
        <p:spPr>
          <a:xfrm>
            <a:off x="594359" y="1097280"/>
            <a:ext cx="5409625" cy="4920852"/>
          </a:xfrm>
          <a:prstGeom prst="roundRect">
            <a:avLst/>
          </a:prstGeom>
          <a:solidFill>
            <a:srgbClr val="FFFFFF"/>
          </a:solidFill>
          <a:ln w="12700">
            <a:solidFill>
              <a:srgbClr val="CBD5E1"/>
            </a:solidFill>
            <a:prstDash val="solid"/>
          </a:ln>
          <a:effectLst>
            <a:outerShdw blurRad="38100" dist="17780" dir="2700000" algn="bl" rotWithShape="0">
              <a:srgbClr val="000000">
                <a:alpha val="18000"/>
              </a:srgbClr>
            </a:outerShdw>
          </a:effectLst>
        </p:spPr>
        <p:txBody>
          <a:bodyPr/>
          <a:lstStyle/>
          <a:p>
            <a:endParaRPr lang="vi-VN" dirty="0"/>
          </a:p>
        </p:txBody>
      </p:sp>
      <p:sp>
        <p:nvSpPr>
          <p:cNvPr id="8" name="Text 6"/>
          <p:cNvSpPr/>
          <p:nvPr/>
        </p:nvSpPr>
        <p:spPr>
          <a:xfrm>
            <a:off x="929487" y="1261872"/>
            <a:ext cx="5166360" cy="320040"/>
          </a:xfrm>
          <a:prstGeom prst="rect">
            <a:avLst/>
          </a:prstGeom>
          <a:noFill/>
          <a:ln/>
        </p:spPr>
        <p:txBody>
          <a:bodyPr wrap="square" rtlCol="0" anchor="ctr"/>
          <a:lstStyle/>
          <a:p>
            <a:r>
              <a:rPr lang="en-US" sz="2400" b="1" dirty="0" err="1"/>
              <a:t>Những</a:t>
            </a:r>
            <a:r>
              <a:rPr lang="en-US" sz="2400" b="1" dirty="0"/>
              <a:t> </a:t>
            </a:r>
            <a:r>
              <a:rPr lang="en-US" sz="2400" b="1" dirty="0" err="1"/>
              <a:t>điểm</a:t>
            </a:r>
            <a:r>
              <a:rPr lang="en-US" sz="2400" b="1" dirty="0"/>
              <a:t> </a:t>
            </a:r>
            <a:r>
              <a:rPr lang="en-US" sz="2400" b="1" dirty="0" err="1"/>
              <a:t>hạn</a:t>
            </a:r>
            <a:r>
              <a:rPr lang="en-US" sz="2400" b="1" dirty="0"/>
              <a:t> </a:t>
            </a:r>
            <a:r>
              <a:rPr lang="en-US" sz="2400" b="1" dirty="0" err="1"/>
              <a:t>chế</a:t>
            </a:r>
            <a:endParaRPr lang="en-US" sz="2400" b="1" dirty="0"/>
          </a:p>
        </p:txBody>
      </p:sp>
      <p:sp>
        <p:nvSpPr>
          <p:cNvPr id="9" name="Text 7"/>
          <p:cNvSpPr/>
          <p:nvPr/>
        </p:nvSpPr>
        <p:spPr>
          <a:xfrm>
            <a:off x="850392" y="1664208"/>
            <a:ext cx="5029200" cy="1691640"/>
          </a:xfrm>
          <a:prstGeom prst="rect">
            <a:avLst/>
          </a:prstGeom>
          <a:noFill/>
          <a:ln/>
        </p:spPr>
        <p:txBody>
          <a:bodyPr wrap="square" rtlCol="0" anchor="t"/>
          <a:lstStyle/>
          <a:p>
            <a:pPr marL="228600" indent="-228600">
              <a:lnSpc>
                <a:spcPct val="110000"/>
              </a:lnSpc>
              <a:buSzPct val="100000"/>
              <a:buChar char="•"/>
            </a:pPr>
            <a:r>
              <a:rPr lang="vi-VN" dirty="0"/>
              <a:t>Quy mô và độ đa dạng dữ liệu: Bộ dữ liệu V-NotInject còn nhỏ và tập trung vào lĩnh vực CNTT, chưa bao phủ đầy đủ các ngữ cảnh đa lĩnh vực. </a:t>
            </a:r>
          </a:p>
          <a:p>
            <a:pPr>
              <a:lnSpc>
                <a:spcPct val="110000"/>
              </a:lnSpc>
              <a:buSzPct val="100000"/>
            </a:pPr>
            <a:endParaRPr lang="vi-VN" dirty="0"/>
          </a:p>
          <a:p>
            <a:pPr marL="228600" indent="-228600">
              <a:lnSpc>
                <a:spcPct val="110000"/>
              </a:lnSpc>
              <a:buSzPct val="100000"/>
              <a:buChar char="•"/>
            </a:pPr>
            <a:r>
              <a:rPr lang="vi-VN" dirty="0"/>
              <a:t>Phạm vi kịch bản tấn công: Mô hình chủ yếu xử lý các tấn công dựa trên từ khóa, chưa đánh giá các kỹ thuật lẩn tránh phức tạp. </a:t>
            </a:r>
          </a:p>
          <a:p>
            <a:pPr>
              <a:lnSpc>
                <a:spcPct val="110000"/>
              </a:lnSpc>
              <a:buSzPct val="100000"/>
            </a:pPr>
            <a:endParaRPr lang="vi-VN" dirty="0"/>
          </a:p>
          <a:p>
            <a:pPr marL="228600" indent="-228600">
              <a:lnSpc>
                <a:spcPct val="110000"/>
              </a:lnSpc>
              <a:buSzPct val="100000"/>
              <a:buChar char="•"/>
            </a:pPr>
            <a:r>
              <a:rPr lang="vi-VN" dirty="0"/>
              <a:t>Dữ liệu sinh nhân tạo: Việc sử dụng dữ liệu sinh từ LLM có thể tạo ra khuôn mẫu, ảnh hưởng đến khả năng hiểu ngữ nghĩa thực của mô hình.</a:t>
            </a:r>
            <a:endParaRPr lang="en-US" sz="1600" dirty="0"/>
          </a:p>
        </p:txBody>
      </p:sp>
      <p:sp>
        <p:nvSpPr>
          <p:cNvPr id="10" name="Shape 8"/>
          <p:cNvSpPr/>
          <p:nvPr/>
        </p:nvSpPr>
        <p:spPr>
          <a:xfrm>
            <a:off x="6400799" y="1097280"/>
            <a:ext cx="5166359" cy="4920852"/>
          </a:xfrm>
          <a:prstGeom prst="roundRect">
            <a:avLst/>
          </a:prstGeom>
          <a:solidFill>
            <a:srgbClr val="FFFFFF"/>
          </a:solidFill>
          <a:ln w="12700">
            <a:solidFill>
              <a:srgbClr val="CBD5E1"/>
            </a:solidFill>
            <a:prstDash val="solid"/>
          </a:ln>
          <a:effectLst>
            <a:outerShdw blurRad="38100" dist="17780" dir="2700000" algn="bl" rotWithShape="0">
              <a:srgbClr val="000000">
                <a:alpha val="18000"/>
              </a:srgbClr>
            </a:outerShdw>
          </a:effectLst>
        </p:spPr>
        <p:txBody>
          <a:bodyPr/>
          <a:lstStyle/>
          <a:p>
            <a:endParaRPr lang="vi-VN"/>
          </a:p>
        </p:txBody>
      </p:sp>
      <p:sp>
        <p:nvSpPr>
          <p:cNvPr id="12" name="Text 10"/>
          <p:cNvSpPr/>
          <p:nvPr/>
        </p:nvSpPr>
        <p:spPr>
          <a:xfrm>
            <a:off x="6766560" y="1261872"/>
            <a:ext cx="4828032" cy="320040"/>
          </a:xfrm>
          <a:prstGeom prst="rect">
            <a:avLst/>
          </a:prstGeom>
          <a:noFill/>
          <a:ln/>
        </p:spPr>
        <p:txBody>
          <a:bodyPr wrap="square" rtlCol="0" anchor="ctr"/>
          <a:lstStyle/>
          <a:p>
            <a:pPr marL="0" indent="0">
              <a:buNone/>
            </a:pPr>
            <a:r>
              <a:rPr lang="en-US" sz="2400" b="1" dirty="0" err="1"/>
              <a:t>Hướng</a:t>
            </a:r>
            <a:r>
              <a:rPr lang="en-US" sz="2400" b="1" dirty="0"/>
              <a:t> </a:t>
            </a:r>
            <a:r>
              <a:rPr lang="en-US" sz="2400" b="1" dirty="0" err="1"/>
              <a:t>phát</a:t>
            </a:r>
            <a:r>
              <a:rPr lang="en-US" sz="2400" b="1" dirty="0"/>
              <a:t> </a:t>
            </a:r>
            <a:r>
              <a:rPr lang="en-US" sz="2400" b="1" dirty="0" err="1"/>
              <a:t>triển</a:t>
            </a:r>
            <a:endParaRPr lang="en-US" sz="2400" b="1" dirty="0"/>
          </a:p>
        </p:txBody>
      </p:sp>
      <p:sp>
        <p:nvSpPr>
          <p:cNvPr id="13" name="Text 11"/>
          <p:cNvSpPr/>
          <p:nvPr/>
        </p:nvSpPr>
        <p:spPr>
          <a:xfrm>
            <a:off x="6656832" y="1664208"/>
            <a:ext cx="4690872" cy="1691640"/>
          </a:xfrm>
          <a:prstGeom prst="rect">
            <a:avLst/>
          </a:prstGeom>
          <a:noFill/>
          <a:ln/>
        </p:spPr>
        <p:txBody>
          <a:bodyPr wrap="square" rtlCol="0" anchor="t"/>
          <a:lstStyle/>
          <a:p>
            <a:pPr marL="228600" indent="-228600">
              <a:lnSpc>
                <a:spcPct val="110000"/>
              </a:lnSpc>
              <a:buSzPct val="100000"/>
              <a:buChar char="•"/>
            </a:pPr>
            <a:r>
              <a:rPr lang="vi-VN" dirty="0"/>
              <a:t>Mở rộng dữ liệu: Thu thập dữ liệu đa lĩnh vực và áp dụng huấn luyện đối kháng để tăng độ bền vững. </a:t>
            </a:r>
          </a:p>
          <a:p>
            <a:pPr>
              <a:lnSpc>
                <a:spcPct val="110000"/>
              </a:lnSpc>
              <a:buSzPct val="100000"/>
            </a:pPr>
            <a:endParaRPr lang="vi-VN" dirty="0"/>
          </a:p>
          <a:p>
            <a:pPr marL="228600" indent="-228600">
              <a:lnSpc>
                <a:spcPct val="110000"/>
              </a:lnSpc>
              <a:buSzPct val="100000"/>
              <a:buChar char="•"/>
            </a:pPr>
            <a:r>
              <a:rPr lang="vi-VN" dirty="0"/>
              <a:t>Nâng cấp mô hình: Thử nghiệm các mô hình tiếng Việt lớn và mới hơn để cải thiện hiệu năng. </a:t>
            </a:r>
          </a:p>
          <a:p>
            <a:pPr>
              <a:lnSpc>
                <a:spcPct val="110000"/>
              </a:lnSpc>
              <a:buSzPct val="100000"/>
            </a:pPr>
            <a:endParaRPr lang="vi-VN" dirty="0"/>
          </a:p>
          <a:p>
            <a:pPr marL="228600" indent="-228600">
              <a:lnSpc>
                <a:spcPct val="110000"/>
              </a:lnSpc>
              <a:buSzPct val="100000"/>
              <a:buChar char="•"/>
            </a:pPr>
            <a:r>
              <a:rPr lang="vi-VN" dirty="0"/>
              <a:t>Triển khai thực tế: Đánh giá mô hình trong hệ thống RAG nhằm đảm bảo độ chính xác và hiệu năng thời gian thực.</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w="12700">
            <a:solidFill>
              <a:srgbClr val="0B1F3A"/>
            </a:solidFill>
            <a:prstDash val="solid"/>
          </a:ln>
        </p:spPr>
        <p:txBody>
          <a:bodyPr/>
          <a:lstStyle/>
          <a:p>
            <a:endParaRPr lang="vi-VN"/>
          </a:p>
        </p:txBody>
      </p:sp>
      <p:sp>
        <p:nvSpPr>
          <p:cNvPr id="3" name="Text 1"/>
          <p:cNvSpPr/>
          <p:nvPr/>
        </p:nvSpPr>
        <p:spPr>
          <a:xfrm>
            <a:off x="0" y="2468880"/>
            <a:ext cx="12191695" cy="914400"/>
          </a:xfrm>
          <a:prstGeom prst="rect">
            <a:avLst/>
          </a:prstGeom>
          <a:noFill/>
          <a:ln/>
        </p:spPr>
        <p:txBody>
          <a:bodyPr wrap="square"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Q &amp; A</a:t>
            </a:r>
            <a:endParaRPr lang="en-US" sz="7200" dirty="0"/>
          </a:p>
        </p:txBody>
      </p:sp>
      <p:sp>
        <p:nvSpPr>
          <p:cNvPr id="4" name="Text 2"/>
          <p:cNvSpPr/>
          <p:nvPr/>
        </p:nvSpPr>
        <p:spPr>
          <a:xfrm>
            <a:off x="0" y="3657600"/>
            <a:ext cx="12191695" cy="548640"/>
          </a:xfrm>
          <a:prstGeom prst="rect">
            <a:avLst/>
          </a:prstGeom>
          <a:noFill/>
          <a:ln/>
        </p:spPr>
        <p:txBody>
          <a:bodyPr wrap="square" rtlCol="0" anchor="ctr"/>
          <a:lstStyle/>
          <a:p>
            <a:pPr marL="0" indent="0" algn="ctr">
              <a:buNone/>
            </a:pPr>
            <a:r>
              <a:rPr lang="en-US" sz="2400" dirty="0">
                <a:solidFill>
                  <a:srgbClr val="D1D5DB"/>
                </a:solidFill>
                <a:latin typeface="Calibri" pitchFamily="34" charset="0"/>
                <a:ea typeface="Calibri" pitchFamily="34" charset="-122"/>
                <a:cs typeface="Calibri" pitchFamily="34" charset="-120"/>
              </a:rPr>
              <a:t>Cảm </a:t>
            </a:r>
            <a:r>
              <a:rPr lang="en-US" sz="2400" dirty="0" err="1">
                <a:solidFill>
                  <a:srgbClr val="D1D5DB"/>
                </a:solidFill>
                <a:latin typeface="Calibri" pitchFamily="34" charset="0"/>
                <a:ea typeface="Calibri" pitchFamily="34" charset="-122"/>
                <a:cs typeface="Calibri" pitchFamily="34" charset="-120"/>
              </a:rPr>
              <a:t>ơn</a:t>
            </a:r>
            <a:r>
              <a:rPr lang="en-US" sz="2400" dirty="0">
                <a:solidFill>
                  <a:srgbClr val="D1D5DB"/>
                </a:solidFill>
                <a:latin typeface="Calibri" pitchFamily="34" charset="0"/>
                <a:ea typeface="Calibri" pitchFamily="34" charset="-122"/>
                <a:cs typeface="Calibri" pitchFamily="34" charset="-120"/>
              </a:rPr>
              <a:t> </a:t>
            </a:r>
            <a:r>
              <a:rPr lang="vi-VN" sz="2400" dirty="0">
                <a:solidFill>
                  <a:srgbClr val="D1D5DB"/>
                </a:solidFill>
                <a:latin typeface="Calibri" pitchFamily="34" charset="0"/>
                <a:ea typeface="Calibri" pitchFamily="34" charset="-122"/>
                <a:cs typeface="Calibri" pitchFamily="34" charset="-120"/>
              </a:rPr>
              <a:t>thầy và các bạn </a:t>
            </a:r>
            <a:r>
              <a:rPr lang="en-US" sz="2400" dirty="0">
                <a:solidFill>
                  <a:srgbClr val="D1D5DB"/>
                </a:solidFill>
                <a:latin typeface="Calibri" pitchFamily="34" charset="0"/>
                <a:ea typeface="Calibri" pitchFamily="34" charset="-122"/>
                <a:cs typeface="Calibri" pitchFamily="34" charset="-120"/>
              </a:rPr>
              <a: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1424</Words>
  <Application>Microsoft Office PowerPoint</Application>
  <PresentationFormat>Widescreen</PresentationFormat>
  <Paragraphs>173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Be Vietnam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HUST SoICT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KHVGuard: Mitigating Over-defense in Vietnamese Prompt Injection</dc:title>
  <dc:subject>Prompt Injection guardrails for Vietnamese</dc:subject>
  <dc:creator>KHVGuard deck (generated)</dc:creator>
  <cp:lastModifiedBy>Khiêm Nguyễn Hòa</cp:lastModifiedBy>
  <cp:revision>2</cp:revision>
  <dcterms:created xsi:type="dcterms:W3CDTF">2026-01-16T15:38:26Z</dcterms:created>
  <dcterms:modified xsi:type="dcterms:W3CDTF">2026-01-16T17:44:46Z</dcterms:modified>
</cp:coreProperties>
</file>